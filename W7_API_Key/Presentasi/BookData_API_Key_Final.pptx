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52ebdd827a4e5d" /><Relationship Type="http://schemas.openxmlformats.org/officeDocument/2006/relationships/extended-properties" Target="/docProps/app.xml" Id="R5f74c8c5a11841ed" /><Relationship Type="http://schemas.openxmlformats.org/officeDocument/2006/relationships/officeDocument" Target="/ppt/presentation.xml" Id="R8eb9b150464d4647" /></Relationships>
</file>

<file path=ppt/presentation.xml><?xml version="1.0" encoding="utf-8"?>
<p:presentation xmlns:p="http://schemas.openxmlformats.org/presentationml/2006/main">
  <p:sldMasterIdLst>
    <p:sldMasterId xmlns:r="http://schemas.openxmlformats.org/officeDocument/2006/relationships" id="2147483648" r:id="R69105cc0480d4910"/>
  </p:sldMasterIdLst>
  <p:notesMasterIdLst>
    <p:notesMasterId xmlns:r="http://schemas.openxmlformats.org/officeDocument/2006/relationships" r:id="R4e4dec5a9a9847eb"/>
  </p:notesMasterIdLst>
  <p:sldIdLst>
    <p:sldId xmlns:r="http://schemas.openxmlformats.org/officeDocument/2006/relationships" id="256" r:id="R2e51fed63ac743c2"/>
    <p:sldId xmlns:r="http://schemas.openxmlformats.org/officeDocument/2006/relationships" id="257" r:id="Raa0c37329b1b47d4"/>
    <p:sldId xmlns:r="http://schemas.openxmlformats.org/officeDocument/2006/relationships" id="258" r:id="Re392a0536c914d53"/>
    <p:sldId xmlns:r="http://schemas.openxmlformats.org/officeDocument/2006/relationships" id="259" r:id="R125c8070ed3141ef"/>
    <p:sldId xmlns:r="http://schemas.openxmlformats.org/officeDocument/2006/relationships" id="260" r:id="Redc4821a858a4f0f"/>
    <p:sldId xmlns:r="http://schemas.openxmlformats.org/officeDocument/2006/relationships" id="261" r:id="R845db8e2f73e4620"/>
    <p:sldId xmlns:r="http://schemas.openxmlformats.org/officeDocument/2006/relationships" id="262" r:id="R562035f855864d0b"/>
    <p:sldId xmlns:r="http://schemas.openxmlformats.org/officeDocument/2006/relationships" id="263" r:id="R3670db8450e54e88"/>
    <p:sldId xmlns:r="http://schemas.openxmlformats.org/officeDocument/2006/relationships" id="264" r:id="R2029f06ea97a49ee"/>
    <p:sldId xmlns:r="http://schemas.openxmlformats.org/officeDocument/2006/relationships" id="265" r:id="Ref133a74fb3b4266"/>
    <p:sldId xmlns:r="http://schemas.openxmlformats.org/officeDocument/2006/relationships" id="266" r:id="R39d7477cd5434c2b"/>
    <p:sldId xmlns:r="http://schemas.openxmlformats.org/officeDocument/2006/relationships" id="267" r:id="Rd313d12edabb47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f32429a0844d76" /><Relationship Type="http://schemas.openxmlformats.org/officeDocument/2006/relationships/slideMaster" Target="/ppt/slideMasters/slideMaster1.xml" Id="R69105cc0480d4910" /><Relationship Type="http://schemas.openxmlformats.org/officeDocument/2006/relationships/notesMaster" Target="/ppt/notesMasters/notesMaster1.xml" Id="R4e4dec5a9a9847eb" /><Relationship Type="http://schemas.openxmlformats.org/officeDocument/2006/relationships/presProps" Target="/ppt/presProps.xml" Id="R16940894e7064922" /><Relationship Type="http://schemas.openxmlformats.org/officeDocument/2006/relationships/tableStyles" Target="/ppt/tableStyles.xml" Id="Rb868c22d4cf94b5e" /><Relationship Type="http://schemas.openxmlformats.org/officeDocument/2006/relationships/slide" Target="/ppt/slides/slide1.xml" Id="R2e51fed63ac743c2" /><Relationship Type="http://schemas.openxmlformats.org/officeDocument/2006/relationships/slide" Target="/ppt/slides/slide2.xml" Id="Raa0c37329b1b47d4" /><Relationship Type="http://schemas.openxmlformats.org/officeDocument/2006/relationships/slide" Target="/ppt/slides/slide3.xml" Id="Re392a0536c914d53" /><Relationship Type="http://schemas.openxmlformats.org/officeDocument/2006/relationships/slide" Target="/ppt/slides/slide4.xml" Id="R125c8070ed3141ef" /><Relationship Type="http://schemas.openxmlformats.org/officeDocument/2006/relationships/slide" Target="/ppt/slides/slide5.xml" Id="Redc4821a858a4f0f" /><Relationship Type="http://schemas.openxmlformats.org/officeDocument/2006/relationships/slide" Target="/ppt/slides/slide6.xml" Id="R845db8e2f73e4620" /><Relationship Type="http://schemas.openxmlformats.org/officeDocument/2006/relationships/slide" Target="/ppt/slides/slide7.xml" Id="R562035f855864d0b" /><Relationship Type="http://schemas.openxmlformats.org/officeDocument/2006/relationships/slide" Target="/ppt/slides/slide8.xml" Id="R3670db8450e54e88" /><Relationship Type="http://schemas.openxmlformats.org/officeDocument/2006/relationships/slide" Target="/ppt/slides/slide9.xml" Id="R2029f06ea97a49ee" /><Relationship Type="http://schemas.openxmlformats.org/officeDocument/2006/relationships/slide" Target="/ppt/slides/slide10.xml" Id="Ref133a74fb3b4266" /><Relationship Type="http://schemas.openxmlformats.org/officeDocument/2006/relationships/slide" Target="/ppt/slides/slide11.xml" Id="R39d7477cd5434c2b" /><Relationship Type="http://schemas.openxmlformats.org/officeDocument/2006/relationships/slide" Target="/ppt/slides/slide12.xml" Id="Rd313d12edabb47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e57e38ac574b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f0d46aa5574e09" /><Relationship Type="http://schemas.openxmlformats.org/officeDocument/2006/relationships/notesMaster" Target="/ppt/notesMasters/notesMaster1.xml" Id="R518f2f91736549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7539bb71044585" /><Relationship Type="http://schemas.openxmlformats.org/officeDocument/2006/relationships/notesMaster" Target="/ppt/notesMasters/notesMaster1.xml" Id="Rd75268c5400a46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9530f9d9eb4a1d" /><Relationship Type="http://schemas.openxmlformats.org/officeDocument/2006/relationships/notesMaster" Target="/ppt/notesMasters/notesMaster1.xml" Id="Rf3c875ee330642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f60613f57343c1" /><Relationship Type="http://schemas.openxmlformats.org/officeDocument/2006/relationships/notesMaster" Target="/ppt/notesMasters/notesMaster1.xml" Id="R39bedd85da3541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1f504588ad420f" /><Relationship Type="http://schemas.openxmlformats.org/officeDocument/2006/relationships/notesMaster" Target="/ppt/notesMasters/notesMaster1.xml" Id="Rcb2ee09331c342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a7c031cb4d4df9" /><Relationship Type="http://schemas.openxmlformats.org/officeDocument/2006/relationships/notesMaster" Target="/ppt/notesMasters/notesMaster1.xml" Id="Rb3c63a22c8e64d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cecf0b973e4ce0" /><Relationship Type="http://schemas.openxmlformats.org/officeDocument/2006/relationships/notesMaster" Target="/ppt/notesMasters/notesMaster1.xml" Id="R54405276a4b642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7b3f4be8a74d3d" /><Relationship Type="http://schemas.openxmlformats.org/officeDocument/2006/relationships/notesMaster" Target="/ppt/notesMasters/notesMaster1.xml" Id="Rb35a7599098a4d2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b2c00e42c14d33" /><Relationship Type="http://schemas.openxmlformats.org/officeDocument/2006/relationships/notesMaster" Target="/ppt/notesMasters/notesMaster1.xml" Id="R533b5cc8bbc149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591627d6544dc3" /><Relationship Type="http://schemas.openxmlformats.org/officeDocument/2006/relationships/notesMaster" Target="/ppt/notesMasters/notesMaster1.xml" Id="R4a3bb53dafbe4b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d32cfafcda4cd3" /><Relationship Type="http://schemas.openxmlformats.org/officeDocument/2006/relationships/notesMaster" Target="/ppt/notesMasters/notesMaster1.xml" Id="R0a38758797034d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657b0bc5bdf4785" /><Relationship Type="http://schemas.openxmlformats.org/officeDocument/2006/relationships/notesMaster" Target="/ppt/notesMasters/notesMaster1.xml" Id="Rda503a7d643e43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Pengguna adalah pemilik langganan dan satu API key aktif. Kolom api_key menyimpan hash 64 karakter, sedangkan fungsi hashing berjalan di controller penerbitan key. Model tidak melakukan hashing otomatis. api_level menentukan konfigurasi fitur dan kuota yang dibaca middleware. NULL berarti akun belum memiliki key. Validasi isIn berlaku pada penulisan yang memakai validasi Sequelize. Unique index juga tercantum pada skema database.</a:t>
            </a:r>
          </a:p>
          <a:p xmlns:a="http://schemas.openxmlformats.org/drawingml/2006/main">
            <a:r>
              <a:t/>
            </a:r>
          </a:p>
          <a:p xmlns:a="http://schemas.openxmlformats.org/drawingml/2006/main">
            <a:r>
              <a:t>Sumber kode: src/models/Pengguna.js  81–94.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ApiLog memetakan objek JavaScript ke tabel api_log. pengguna_id mengikat penggunaan pada akun, bukan pada string key. Karena itu regenerasi key tidak menghapus penggunaan yang sudah tercatat. createdAt menjadi dasar penghitungan per hari dan per menit UTC. status_code bersifat nullable karena reservasi slot terjadi sebelum controller menghasilkan respons. Model lengkap juga menetapkan index gabungan pengguna_id dan createdAt.</a:t>
            </a:r>
          </a:p>
          <a:p xmlns:a="http://schemas.openxmlformats.org/drawingml/2006/main">
            <a:r>
              <a:t/>
            </a:r>
          </a:p>
          <a:p xmlns:a="http://schemas.openxmlformats.org/drawingml/2006/main">
            <a:r>
              <a:t>Sumber kode: src/models/ApiLog.js  10–14.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associate mendefinisikan relasi satu ke banyak. Model index membangun semua model sebelum menjalankan associate sehingga ApiLog sudah tersedia. defaultScope menyaring atribut dari query biasa, bukan jaminan universal untuk semua cara membentuk respons. Controller register mengambil ulang data menggunakan scope sebelum mengirim respons. Endpoint informasi paket juga memilih responsnya secara eksplisit agar hash tidak muncul.</a:t>
            </a:r>
          </a:p>
          <a:p xmlns:a="http://schemas.openxmlformats.org/drawingml/2006/main">
            <a:r>
              <a:t/>
            </a:r>
          </a:p>
          <a:p xmlns:a="http://schemas.openxmlformats.org/drawingml/2006/main">
            <a:r>
              <a:t>Sumber kode: src/models/Pengguna.js  31–33, 132–136.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API_PLANS menyimpan aturan paket di satu tempat agar controller informasi paket dan middleware membaca angka yang sama. features menentukan layanan yang boleh diakses. dailyLimit dan minuteLimit membatasi konsumsi sumber daya. priceMonthly adalah metadata harga simulasi praktikum. Kode ini tidak memungut pembayaran, membuat invoice, ataupun menghentikan Premium setelah satu bulan. Object.freeze mencegah perubahan langsung properti objek konfigurasi, tetapi pembekuan ini bersifat shallow dan tidak membekukan array features.</a:t>
            </a:r>
          </a:p>
          <a:p xmlns:a="http://schemas.openxmlformats.org/drawingml/2006/main">
            <a:r>
              <a:t/>
            </a:r>
          </a:p>
          <a:p xmlns:a="http://schemas.openxmlformats.org/drawingml/2006/main">
            <a:r>
              <a:t>Sumber kode: src/config/apiPlans.js  2–7.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Bagian atas cuplikan berasal dari utility. Bagian tengah dan bawah berasal dari controller, pada konteks fungsi yang berbeda. crypto diimpor dari node:crypto dalam file utility lengkap. issue(false) menolak generate kedua dengan 409 jika akun sudah memiliki key. issue(true) mengizinkan penggantian. Fungsi issue mengambil pemilik dari JWT dan mengunci baris pengguna dalam transaksi sebelum memperbarui hash. Respons penerbitan mengirim raw key dan memakai Cache-Control no-store. Pengguna wajib menyimpan key dari respons tersebut.</a:t>
            </a:r>
          </a:p>
          <a:p xmlns:a="http://schemas.openxmlformats.org/drawingml/2006/main">
            <a:r>
              <a:t/>
            </a:r>
          </a:p>
          <a:p xmlns:a="http://schemas.openxmlformats.org/drawingml/2006/main">
            <a:r>
              <a:t>Sumber kode: src/utils/apiKey.js  3–6; src/controllers/apiKey.js  13–14, 21–22.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Endpoint lengkap adalah PATCH /api/v1/api-key/level/:id. Parameter id menunjuk akun target. Controller sebelumnya memvalidasi id positif dan body yang hanya memuat api_level dengan nilai basic atau premium. Pengguna visitor tidak boleh mengaktifkan paket sendiri. Pengguna target yang tidak ditemukan menghasilkan 404. Perubahan paket tidak perlu menerbitkan API key baru karena middleware membaca data akun pada setiap request. Premium pada praktikum ini belum memiliki tanggal kedaluwarsa otomatis.</a:t>
            </a:r>
          </a:p>
          <a:p xmlns:a="http://schemas.openxmlformats.org/drawingml/2006/main">
            <a:r>
              <a:t/>
            </a:r>
          </a:p>
          <a:p xmlns:a="http://schemas.openxmlformats.org/drawingml/2006/main">
            <a:r>
              <a:t>Sumber kode: src/routes/apiKey.js  6, 10; src/controllers/apiKey.js  42–44.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Header partner adalah X-API-Key. Middleware tidak menerima key dari query string. isApiKey memeriksa format bd_live dan UUID lama yang sudah dimigrasikan. hashApiKey menggunakan SHA-256 yang sama dengan penerbitan. unscoped memungkinkan query internal memfilter kolom api_key, sedangkan attributes membatasi data akun yang dibaca. Middleware berikutnya mendapatkan id, level dan keyHash melalui req.apiClient. Layanan partner memakai API key, sedangkan pengelolaan key memakai JWT.</a:t>
            </a:r>
          </a:p>
          <a:p xmlns:a="http://schemas.openxmlformats.org/drawingml/2006/main">
            <a:r>
              <a:t/>
            </a:r>
          </a:p>
          <a:p xmlns:a="http://schemas.openxmlformats.org/drawingml/2006/main">
            <a:r>
              <a:t>Sumber kode: src/middlewares/verifyApiKey.js  4–11.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checkApiLevel menerima nama fitur saat route didefinisikan. Nilai ini diperiksa terhadap features pada API_PLANS. Pemilik key yang valid belum tentu berhak menggunakan semua fitur. Jika paket tidak dikenal atau fitur tidak termasuk, middleware menghentikan request. req.apiFeature meneruskan nama fitur ke reserveUsage agar layanan kuota dapat memeriksa ulang akses setelah memperoleh lock. Urutan pemeriksaan memastikan penolakan awal fitur tidak menghabiskan kuota.</a:t>
            </a:r>
          </a:p>
          <a:p xmlns:a="http://schemas.openxmlformats.org/drawingml/2006/main">
            <a:r>
              <a:t/>
            </a:r>
          </a:p>
          <a:p xmlns:a="http://schemas.openxmlformats.org/drawingml/2006/main">
            <a:r>
              <a:t>Sumber kode: src/middlewares/checkApiLevel.js  2–9.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Cuplikan ini menampilkan tiga bagian reserveUsage. Fungsi lengkap membungkusnya dalam transaksi READ COMMITTED. Setelah row lock diperoleh, fungsi memeriksa ulang hash key dan paket, mengambil waktu database, menghitung pemakaian, memeriksa batas harian dan menit, lalu memasukkan reservasi dalam transaksi yang sama. Pola ini mencegah dua request bersamaan memakai slot terakhir yang sama. Header Retry-After berasal dari nilai retryAfter. Regenerasi key tidak mereset log akun. Request yang sudah mendapat reservasi tetap dihitung meskipun controller kemudian gagal.</a:t>
            </a:r>
          </a:p>
          <a:p xmlns:a="http://schemas.openxmlformats.org/drawingml/2006/main">
            <a:r>
              <a:t/>
            </a:r>
          </a:p>
          <a:p xmlns:a="http://schemas.openxmlformats.org/drawingml/2006/main">
            <a:r>
              <a:t>Sumber kode: src/services/apiUsage.js  33–34, 44–45, 47–48.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Express mengeksekusi middleware sesuai urutan argumen route. verifyApiKey memastikan kredensial valid. checkApiLevel mengecek fitur yang diminta. limitApiUsage memanggil reserveUsage, menambahkan header sisa kuota, dan memperbarui status log setelah respons. Controller terakhir menghitung data dari tabel buku. Penolakan 401, 403 atau 429 sebelum reservasi tidak menambah log pemakaian. app.js memasang router pada /api/v1/partner.</a:t>
            </a:r>
          </a:p>
          <a:p xmlns:a="http://schemas.openxmlformats.org/drawingml/2006/main">
            <a:r>
              <a:t/>
            </a:r>
          </a:p>
          <a:p xmlns:a="http://schemas.openxmlformats.org/drawingml/2006/main">
            <a:r>
              <a:t>Sumber kode: src/routes/partner.js  8–11.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GET /api/v1/partner/ringkasan menghasilkan agregasi tabel Buku. Sequelize menerjemahkan fn COUNT, SUM dan AVG menjadi fungsi agregasi database. Alias menghasilkan nama field JSON yang jelas. raw true mengembalikan objek biasa. Di bagian respons, controller mengubah hasil menjadi Number, memakai 0 untuk agregasi kosong dan membulatkan rata-rata harga. Nilai hasil bergantung pada data yang tersimpan, bukan angka statis dalam controller.</a:t>
            </a:r>
          </a:p>
          <a:p xmlns:a="http://schemas.openxmlformats.org/drawingml/2006/main">
            <a:r>
              <a:t/>
            </a:r>
          </a:p>
          <a:p xmlns:a="http://schemas.openxmlformats.org/drawingml/2006/main">
            <a:r>
              <a:t>Sumber kode: src/controllers/partner.js  5–9.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GET /api/v1/partner/analitik menyediakan dua hasil dalam satu respons: kategori dan stok_rendah. Agregasi kategori memakai GROUP BY. Query stok rendah memakai operator less than or equal dengan ambang 5 dan urutan stok terkecil lalu id. Route sebelumnya memeriksa fitur analitik sehingga akun Basic mendapat 403. Nilai bisnisnya adalah informasi stok per kategori dan kandidat buku yang perlu ditambah. Batas praktikum: endpoint CRUD buku W7 masih publik, dan aktivasi Premium masih manual. Layanan penjualan data sungguhan memerlukan penutupan atau pemisahan akses publik lama.</a:t>
            </a:r>
          </a:p>
          <a:p xmlns:a="http://schemas.openxmlformats.org/drawingml/2006/main">
            <a:r>
              <a:t/>
            </a:r>
          </a:p>
          <a:p xmlns:a="http://schemas.openxmlformats.org/drawingml/2006/main">
            <a:r>
              <a:t>Sumber kode: src/controllers/partner.js  14–19. Semua path relatif terhadap Proyek_Lengkap.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1eb1fcff4b4e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8d69fc369041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21366259964b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38967f3e5547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70ec6f9357478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5f322cc9494f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01AC5C-B019-4377-BE7A-8B42126E1D9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5BA29A-4D4F-4355-A420-8E285F9ED4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948516-0348-445A-A8C0-4436E5EC89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B0E70F-6E49-4976-9F05-D1F7F7018C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05DB0D-BF59-4A11-9A42-40B38AE03D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E68421-97EC-45E7-9A6E-E71F27738F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10182-ADA3-4C6B-A4BE-89F554D879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0B459AC-A17A-4E81-B826-543C0D9EE5B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4A8139-546D-4575-A089-B3DD7235FB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0A7D70-33CE-4312-95DE-7335858EC7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59351b05344fda" /><Relationship Type="http://schemas.openxmlformats.org/officeDocument/2006/relationships/slideLayout" Target="/ppt/slideLayouts/slideLayout1.xml" Id="R71fad6cf79a64290" /><Relationship Type="http://schemas.openxmlformats.org/officeDocument/2006/relationships/slideLayout" Target="/ppt/slideLayouts/slideLayout2.xml" Id="R1a502ba3a30e4e0c" /><Relationship Type="http://schemas.openxmlformats.org/officeDocument/2006/relationships/slideLayout" Target="/ppt/slideLayouts/slideLayout3.xml" Id="Re6c77919db854100" /><Relationship Type="http://schemas.openxmlformats.org/officeDocument/2006/relationships/slideLayout" Target="/ppt/slideLayouts/slideLayout4.xml" Id="Rfedd50c9f4d74a53" /><Relationship Type="http://schemas.openxmlformats.org/officeDocument/2006/relationships/slideLayout" Target="/ppt/slideLayouts/slideLayout5.xml" Id="R9b427ceadac44392" /><Relationship Type="http://schemas.openxmlformats.org/officeDocument/2006/relationships/slideLayout" Target="/ppt/slideLayouts/slideLayout6.xml" Id="Rb1a7b53db88044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fad6cf79a64290"/>
    <p:sldLayoutId xmlns:r="http://schemas.openxmlformats.org/officeDocument/2006/relationships" id="2147483650" r:id="R1a502ba3a30e4e0c"/>
    <p:sldLayoutId xmlns:r="http://schemas.openxmlformats.org/officeDocument/2006/relationships" id="2147483651" r:id="Re6c77919db854100"/>
    <p:sldLayoutId xmlns:r="http://schemas.openxmlformats.org/officeDocument/2006/relationships" id="2147483652" r:id="Rfedd50c9f4d74a53"/>
    <p:sldLayoutId xmlns:r="http://schemas.openxmlformats.org/officeDocument/2006/relationships" id="2147483653" r:id="R9b427ceadac44392"/>
    <p:sldLayoutId xmlns:r="http://schemas.openxmlformats.org/officeDocument/2006/relationships" id="2147483654" r:id="Rb1a7b53db88044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586d2c912e4046" /><Relationship Type="http://schemas.openxmlformats.org/officeDocument/2006/relationships/notesSlide" Target="/ppt/notesSlides/notesSlide1.xml" Id="R1e7312d5cf2649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ec70024f06473a" /><Relationship Type="http://schemas.openxmlformats.org/officeDocument/2006/relationships/notesSlide" Target="/ppt/notesSlides/notesSlide2.xml" Id="R456e702a8f984a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6b390ab8534969" /><Relationship Type="http://schemas.openxmlformats.org/officeDocument/2006/relationships/notesSlide" Target="/ppt/notesSlides/notesSlide3.xml" Id="R1e5e20141b5a4e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0b726d52c864acc" /><Relationship Type="http://schemas.openxmlformats.org/officeDocument/2006/relationships/notesSlide" Target="/ppt/notesSlides/notesSlide4.xml" Id="R2bdb24be0bd34f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7397ba41e27485b" /><Relationship Type="http://schemas.openxmlformats.org/officeDocument/2006/relationships/notesSlide" Target="/ppt/notesSlides/notesSlide5.xml" Id="R3940491f93794d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b88cd1e4bc413f" /><Relationship Type="http://schemas.openxmlformats.org/officeDocument/2006/relationships/notesSlide" Target="/ppt/notesSlides/notesSlide6.xml" Id="Rc9cf4204262e4e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5b4fcef86c45fa" /><Relationship Type="http://schemas.openxmlformats.org/officeDocument/2006/relationships/notesSlide" Target="/ppt/notesSlides/notesSlide7.xml" Id="R2391599726254f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a16fe0464194869" /><Relationship Type="http://schemas.openxmlformats.org/officeDocument/2006/relationships/notesSlide" Target="/ppt/notesSlides/notesSlide8.xml" Id="R8245c1fc8f2c48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74f9f782ee4945" /><Relationship Type="http://schemas.openxmlformats.org/officeDocument/2006/relationships/notesSlide" Target="/ppt/notesSlides/notesSlide9.xml" Id="R7345a30912744e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f2599ba89704efb" /><Relationship Type="http://schemas.openxmlformats.org/officeDocument/2006/relationships/notesSlide" Target="/ppt/notesSlides/notesSlide10.xml" Id="R7d6577f80a5c4b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18073d9324b4d8c" /><Relationship Type="http://schemas.openxmlformats.org/officeDocument/2006/relationships/notesSlide" Target="/ppt/notesSlides/notesSlide11.xml" Id="Rd189c4ab89494b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ec43a84830b4bac" /><Relationship Type="http://schemas.openxmlformats.org/officeDocument/2006/relationships/notesSlide" Target="/ppt/notesSlides/notesSlide12.xml" Id="R76fce41c3c7242fc" /></Relationships>
</file>

<file path=ppt/slides/slide1.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E9988502-99C6-4E3E-86DA-866F784CFD96}"/>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Penyimpanan API key dan paket</a:t>
            </a:r>
          </a:p>
        </p:txBody>
      </p:sp>
      <p:sp>
        <p:nvSpPr>
          <p:cNvPr id="2" name="text-2">
            <a:extLst xmlns:a="http://schemas.openxmlformats.org/drawingml/2006/main">
              <a:ext uri="{FF2B5EF4-FFF2-40B4-BE49-F238E27FC236}">
                <a16:creationId xmlns:a16="http://schemas.microsoft.com/office/drawing/2014/main" id="{68B7E9F8-C5CE-4595-9198-03FEBC5CBB35}"/>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src/models/Pengguna.js  81–94</a:t>
            </a:r>
          </a:p>
        </p:txBody>
      </p:sp>
      <p:sp>
        <p:nvSpPr>
          <p:cNvPr id="3" name="javascript-excerpt">
            <a:extLst xmlns:a="http://schemas.openxmlformats.org/drawingml/2006/main">
              <a:ext uri="{FF2B5EF4-FFF2-40B4-BE49-F238E27FC236}">
                <a16:creationId xmlns:a16="http://schemas.microsoft.com/office/drawing/2014/main" id="{537FAA80-CE3C-4C1D-9D49-088549880BBD}"/>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api_key: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type: DataTypes.STRING(64),</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allowNull: true,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unique: "uq_pengguna_api_key",</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api_level: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type: DataTypes.STRING(50),</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allowNull: false,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defaultValue: "basic",</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validate: { isIn: [["basic", "premium"]]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p:txBody>
      </p:sp>
      <p:sp>
        <p:nvSpPr>
          <p:cNvPr id="4" name="text-4">
            <a:extLst xmlns:a="http://schemas.openxmlformats.org/drawingml/2006/main">
              <a:ext uri="{FF2B5EF4-FFF2-40B4-BE49-F238E27FC236}">
                <a16:creationId xmlns:a16="http://schemas.microsoft.com/office/drawing/2014/main" id="{8FC049B2-DDB3-4CC5-AE94-D552D050804E}"/>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Identitas pelanggan</a:t>
            </a:r>
          </a:p>
        </p:txBody>
      </p:sp>
      <p:sp>
        <p:nvSpPr>
          <p:cNvPr id="5" name="text-5">
            <a:extLst xmlns:a="http://schemas.openxmlformats.org/drawingml/2006/main">
              <a:ext uri="{FF2B5EF4-FFF2-40B4-BE49-F238E27FC236}">
                <a16:creationId xmlns:a16="http://schemas.microsoft.com/office/drawing/2014/main" id="{E24DA92A-CC87-404D-9EF9-309CA9B9E07C}"/>
              </a:ext>
            </a:extLst>
          </p:cNvPr>
          <p:cNvSpPr>
            <a:spLocks xmlns:a="http://schemas.openxmlformats.org/drawingml/2006/main" noGrp="1"/>
          </p:cNvSpPr>
          <p:nvPr/>
        </p:nvSpPr>
        <p:spPr>
          <a:xfrm xmlns:a="http://schemas.openxmlformats.org/drawingml/2006/main">
            <a:off x="8629650" y="20669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api_key menyimpan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hash SHA-256. NULL</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berarti key belum terbit.</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Unique mencegah hash</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ganda.</a:t>
            </a:r>
          </a:p>
        </p:txBody>
      </p:sp>
      <p:sp>
        <p:nvSpPr>
          <p:cNvPr id="6" name="text-6">
            <a:extLst xmlns:a="http://schemas.openxmlformats.org/drawingml/2006/main">
              <a:ext uri="{FF2B5EF4-FFF2-40B4-BE49-F238E27FC236}">
                <a16:creationId xmlns:a16="http://schemas.microsoft.com/office/drawing/2014/main" id="{002E2527-42C0-48AC-932C-98F4869F8CE0}"/>
              </a:ext>
            </a:extLst>
          </p:cNvPr>
          <p:cNvSpPr>
            <a:spLocks xmlns:a="http://schemas.openxmlformats.org/drawingml/2006/main" noGrp="1"/>
          </p:cNvSpPr>
          <p:nvPr/>
        </p:nvSpPr>
        <p:spPr>
          <a:xfrm xmlns:a="http://schemas.openxmlformats.org/drawingml/2006/main">
            <a:off x="8629650" y="371475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Paket awal</a:t>
            </a:r>
          </a:p>
        </p:txBody>
      </p:sp>
      <p:sp>
        <p:nvSpPr>
          <p:cNvPr id="7" name="text-7">
            <a:extLst xmlns:a="http://schemas.openxmlformats.org/drawingml/2006/main">
              <a:ext uri="{FF2B5EF4-FFF2-40B4-BE49-F238E27FC236}">
                <a16:creationId xmlns:a16="http://schemas.microsoft.com/office/drawing/2014/main" id="{5A25B6DB-A42F-4907-B61C-243854ABCADB}"/>
              </a:ext>
            </a:extLst>
          </p:cNvPr>
          <p:cNvSpPr>
            <a:spLocks xmlns:a="http://schemas.openxmlformats.org/drawingml/2006/main" noGrp="1"/>
          </p:cNvSpPr>
          <p:nvPr/>
        </p:nvSpPr>
        <p:spPr>
          <a:xfrm xmlns:a="http://schemas.openxmlformats.org/drawingml/2006/main">
            <a:off x="8629650" y="4133850"/>
            <a:ext cx="29527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Akun mulai dari Basic.</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Validasi hanya menerima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basic atau premium.</a:t>
            </a:r>
          </a:p>
        </p:txBody>
      </p:sp>
      <p:sp>
        <p:nvSpPr>
          <p:cNvPr id="8" name="text-8">
            <a:extLst xmlns:a="http://schemas.openxmlformats.org/drawingml/2006/main">
              <a:ext uri="{FF2B5EF4-FFF2-40B4-BE49-F238E27FC236}">
                <a16:creationId xmlns:a16="http://schemas.microsoft.com/office/drawing/2014/main" id="{E13F6BA6-992B-499E-BBD8-036A68B2067E}"/>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Kenneth   1/3</a:t>
            </a:r>
          </a:p>
        </p:txBody>
      </p:sp>
      <p:sp>
        <p:nvSpPr>
          <p:cNvPr id="9" name="text-9">
            <a:extLst xmlns:a="http://schemas.openxmlformats.org/drawingml/2006/main">
              <a:ext uri="{FF2B5EF4-FFF2-40B4-BE49-F238E27FC236}">
                <a16:creationId xmlns:a16="http://schemas.microsoft.com/office/drawing/2014/main" id="{6F8C4ED8-5162-4AA5-AC9D-440EFC425E0C}"/>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01/12</a:t>
            </a:r>
          </a:p>
        </p:txBody>
      </p:sp>
    </p:spTree>
    <p:extLst>
      <p:ext uri="{BB962C8B-B14F-4D97-AF65-F5344CB8AC3E}">
        <p14:creationId xmlns:p14="http://schemas.microsoft.com/office/powerpoint/2010/main" val="1619647607"/>
      </p:ext>
    </p:extLst>
  </p:cSld>
</p:sld>
</file>

<file path=ppt/slides/slide2.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10">
            <a:extLst xmlns:a="http://schemas.openxmlformats.org/drawingml/2006/main">
              <a:ext uri="{FF2B5EF4-FFF2-40B4-BE49-F238E27FC236}">
                <a16:creationId xmlns:a16="http://schemas.microsoft.com/office/drawing/2014/main" id="{9E5C6555-7881-4FAF-B875-25A625D95BF7}"/>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Model pencatatan penggunaan API</a:t>
            </a:r>
          </a:p>
        </p:txBody>
      </p:sp>
      <p:sp>
        <p:nvSpPr>
          <p:cNvPr id="2" name="text-11">
            <a:extLst xmlns:a="http://schemas.openxmlformats.org/drawingml/2006/main">
              <a:ext uri="{FF2B5EF4-FFF2-40B4-BE49-F238E27FC236}">
                <a16:creationId xmlns:a16="http://schemas.microsoft.com/office/drawing/2014/main" id="{F8C9BBA7-D764-4084-AA68-F960BB5E2C6A}"/>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src/models/ApiLog.js  10–14</a:t>
            </a:r>
          </a:p>
        </p:txBody>
      </p:sp>
      <p:sp>
        <p:nvSpPr>
          <p:cNvPr id="3" name="javascript-excerpt">
            <a:extLst xmlns:a="http://schemas.openxmlformats.org/drawingml/2006/main">
              <a:ext uri="{FF2B5EF4-FFF2-40B4-BE49-F238E27FC236}">
                <a16:creationId xmlns:a16="http://schemas.microsoft.com/office/drawing/2014/main" id="{515C6D19-C15A-4E50-A57F-3755B0B73FA7}"/>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pengguna_id: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type: DataTypes.INTEGER.UNSIGNED, allowNull: false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endpoint: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type: DataTypes.STRING(255), allowNull: false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http_method: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type: DataTypes.STRING(10), allowNull: false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status_code: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type: DataTypes.SMALLINT.UNSIGNED, allowNull: true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createdAt: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type: DataTypes.DATE(3), allowNull: false,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defaultValue: DataTypes.NOW</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p:txBody>
      </p:sp>
      <p:sp>
        <p:nvSpPr>
          <p:cNvPr id="4" name="text-13">
            <a:extLst xmlns:a="http://schemas.openxmlformats.org/drawingml/2006/main">
              <a:ext uri="{FF2B5EF4-FFF2-40B4-BE49-F238E27FC236}">
                <a16:creationId xmlns:a16="http://schemas.microsoft.com/office/drawing/2014/main" id="{48091410-4D40-447D-84D3-760302DEBED8}"/>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Dasar kuota</a:t>
            </a:r>
          </a:p>
        </p:txBody>
      </p:sp>
      <p:sp>
        <p:nvSpPr>
          <p:cNvPr id="5" name="text-14">
            <a:extLst xmlns:a="http://schemas.openxmlformats.org/drawingml/2006/main">
              <a:ext uri="{FF2B5EF4-FFF2-40B4-BE49-F238E27FC236}">
                <a16:creationId xmlns:a16="http://schemas.microsoft.com/office/drawing/2014/main" id="{9E285A7C-E7C1-4C4B-A29A-D33A33C7F1CC}"/>
              </a:ext>
            </a:extLst>
          </p:cNvPr>
          <p:cNvSpPr>
            <a:spLocks xmlns:a="http://schemas.openxmlformats.org/drawingml/2006/main" noGrp="1"/>
          </p:cNvSpPr>
          <p:nvPr/>
        </p:nvSpPr>
        <p:spPr>
          <a:xfrm xmlns:a="http://schemas.openxmlformats.org/drawingml/2006/main">
            <a:off x="8629650" y="20669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Log mencatat pengguna,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endpoint, metode, dan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waktu request. Kuota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dihitung dari log milik</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akun.</a:t>
            </a:r>
          </a:p>
        </p:txBody>
      </p:sp>
      <p:sp>
        <p:nvSpPr>
          <p:cNvPr id="6" name="text-15">
            <a:extLst xmlns:a="http://schemas.openxmlformats.org/drawingml/2006/main">
              <a:ext uri="{FF2B5EF4-FFF2-40B4-BE49-F238E27FC236}">
                <a16:creationId xmlns:a16="http://schemas.microsoft.com/office/drawing/2014/main" id="{323A9EBE-9937-47DB-906D-902E25EDFEE6}"/>
              </a:ext>
            </a:extLst>
          </p:cNvPr>
          <p:cNvSpPr>
            <a:spLocks xmlns:a="http://schemas.openxmlformats.org/drawingml/2006/main" noGrp="1"/>
          </p:cNvSpPr>
          <p:nvPr/>
        </p:nvSpPr>
        <p:spPr>
          <a:xfrm xmlns:a="http://schemas.openxmlformats.org/drawingml/2006/main">
            <a:off x="8629650" y="371475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Status respons</a:t>
            </a:r>
          </a:p>
        </p:txBody>
      </p:sp>
      <p:sp>
        <p:nvSpPr>
          <p:cNvPr id="7" name="text-16">
            <a:extLst xmlns:a="http://schemas.openxmlformats.org/drawingml/2006/main">
              <a:ext uri="{FF2B5EF4-FFF2-40B4-BE49-F238E27FC236}">
                <a16:creationId xmlns:a16="http://schemas.microsoft.com/office/drawing/2014/main" id="{6154C901-AA0A-4315-9745-93D9E189545F}"/>
              </a:ext>
            </a:extLst>
          </p:cNvPr>
          <p:cNvSpPr>
            <a:spLocks xmlns:a="http://schemas.openxmlformats.org/drawingml/2006/main" noGrp="1"/>
          </p:cNvSpPr>
          <p:nvPr/>
        </p:nvSpPr>
        <p:spPr>
          <a:xfrm xmlns:a="http://schemas.openxmlformats.org/drawingml/2006/main">
            <a:off x="8629650" y="4133850"/>
            <a:ext cx="2952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status_code awalnya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NULL. Middleware</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mengisinya setelah</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respons selesai.</a:t>
            </a:r>
          </a:p>
        </p:txBody>
      </p:sp>
      <p:sp>
        <p:nvSpPr>
          <p:cNvPr id="8" name="text-17">
            <a:extLst xmlns:a="http://schemas.openxmlformats.org/drawingml/2006/main">
              <a:ext uri="{FF2B5EF4-FFF2-40B4-BE49-F238E27FC236}">
                <a16:creationId xmlns:a16="http://schemas.microsoft.com/office/drawing/2014/main" id="{414598E3-1275-4D97-B54C-61F9C3C88BEF}"/>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Kenneth   2/3</a:t>
            </a:r>
          </a:p>
        </p:txBody>
      </p:sp>
      <p:sp>
        <p:nvSpPr>
          <p:cNvPr id="9" name="text-18">
            <a:extLst xmlns:a="http://schemas.openxmlformats.org/drawingml/2006/main">
              <a:ext uri="{FF2B5EF4-FFF2-40B4-BE49-F238E27FC236}">
                <a16:creationId xmlns:a16="http://schemas.microsoft.com/office/drawing/2014/main" id="{65811848-0F08-497D-930C-281953B0A611}"/>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02/12</a:t>
            </a:r>
          </a:p>
        </p:txBody>
      </p:sp>
    </p:spTree>
    <p:extLst>
      <p:ext uri="{BB962C8B-B14F-4D97-AF65-F5344CB8AC3E}">
        <p14:creationId xmlns:p14="http://schemas.microsoft.com/office/powerpoint/2010/main" val="1446194535"/>
      </p:ext>
    </p:extLst>
  </p:cSld>
</p:sld>
</file>

<file path=ppt/slides/slide3.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19">
            <a:extLst xmlns:a="http://schemas.openxmlformats.org/drawingml/2006/main">
              <a:ext uri="{FF2B5EF4-FFF2-40B4-BE49-F238E27FC236}">
                <a16:creationId xmlns:a16="http://schemas.microsoft.com/office/drawing/2014/main" id="{DEDACE3B-BD1E-405B-869E-DF794FA32180}"/>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Relasi log dan penyaringan data akun</a:t>
            </a:r>
          </a:p>
        </p:txBody>
      </p:sp>
      <p:sp>
        <p:nvSpPr>
          <p:cNvPr id="2" name="text-20">
            <a:extLst xmlns:a="http://schemas.openxmlformats.org/drawingml/2006/main">
              <a:ext uri="{FF2B5EF4-FFF2-40B4-BE49-F238E27FC236}">
                <a16:creationId xmlns:a16="http://schemas.microsoft.com/office/drawing/2014/main" id="{BBE00703-D9AC-4D4F-812F-AD1677847027}"/>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src/models/Pengguna.js  31–33, 132–136</a:t>
            </a:r>
          </a:p>
        </p:txBody>
      </p:sp>
      <p:sp>
        <p:nvSpPr>
          <p:cNvPr id="3" name="javascript-excerpt">
            <a:extLst xmlns:a="http://schemas.openxmlformats.org/drawingml/2006/main">
              <a:ext uri="{FF2B5EF4-FFF2-40B4-BE49-F238E27FC236}">
                <a16:creationId xmlns:a16="http://schemas.microsoft.com/office/drawing/2014/main" id="{74E33D0F-954B-40CA-8073-06EA9EF1462A}"/>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static associate(models)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Pengguna.hasMany(models.ApiLog,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foreignKey: "pengguna_id",</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as: "apiLogs"</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a:p xmlns:a="http://schemas.openxmlformats.org/drawingml/2006/main">
            <a:r>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defaultScope: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attributes: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exclude: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"createdAt", "updatedAt",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"pengguna_password", "api_key"</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p:txBody>
      </p:sp>
      <p:sp>
        <p:nvSpPr>
          <p:cNvPr id="4" name="text-22">
            <a:extLst xmlns:a="http://schemas.openxmlformats.org/drawingml/2006/main">
              <a:ext uri="{FF2B5EF4-FFF2-40B4-BE49-F238E27FC236}">
                <a16:creationId xmlns:a16="http://schemas.microsoft.com/office/drawing/2014/main" id="{A0FD22DC-805E-48BA-ABF1-4C04F50C999D}"/>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Relasi akun</a:t>
            </a:r>
          </a:p>
        </p:txBody>
      </p:sp>
      <p:sp>
        <p:nvSpPr>
          <p:cNvPr id="5" name="text-23">
            <a:extLst xmlns:a="http://schemas.openxmlformats.org/drawingml/2006/main">
              <a:ext uri="{FF2B5EF4-FFF2-40B4-BE49-F238E27FC236}">
                <a16:creationId xmlns:a16="http://schemas.microsoft.com/office/drawing/2014/main" id="{E157CB89-0E3B-4DC5-8D76-521FEBEF2242}"/>
              </a:ext>
            </a:extLst>
          </p:cNvPr>
          <p:cNvSpPr>
            <a:spLocks xmlns:a="http://schemas.openxmlformats.org/drawingml/2006/main" noGrp="1"/>
          </p:cNvSpPr>
          <p:nvPr/>
        </p:nvSpPr>
        <p:spPr>
          <a:xfrm xmlns:a="http://schemas.openxmlformats.org/drawingml/2006/main">
            <a:off x="8629650" y="20669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hasMany</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menghubungkan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Pengguna dengan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banyak log melalui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pengguna_id.</a:t>
            </a:r>
          </a:p>
        </p:txBody>
      </p:sp>
      <p:sp>
        <p:nvSpPr>
          <p:cNvPr id="6" name="text-24">
            <a:extLst xmlns:a="http://schemas.openxmlformats.org/drawingml/2006/main">
              <a:ext uri="{FF2B5EF4-FFF2-40B4-BE49-F238E27FC236}">
                <a16:creationId xmlns:a16="http://schemas.microsoft.com/office/drawing/2014/main" id="{C6A73E3F-BEEE-4720-9AEF-D1317B2F47B6}"/>
              </a:ext>
            </a:extLst>
          </p:cNvPr>
          <p:cNvSpPr>
            <a:spLocks xmlns:a="http://schemas.openxmlformats.org/drawingml/2006/main" noGrp="1"/>
          </p:cNvSpPr>
          <p:nvPr/>
        </p:nvSpPr>
        <p:spPr>
          <a:xfrm xmlns:a="http://schemas.openxmlformats.org/drawingml/2006/main">
            <a:off x="8629650" y="371475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Penyaringan query</a:t>
            </a:r>
          </a:p>
        </p:txBody>
      </p:sp>
      <p:sp>
        <p:nvSpPr>
          <p:cNvPr id="7" name="text-25">
            <a:extLst xmlns:a="http://schemas.openxmlformats.org/drawingml/2006/main">
              <a:ext uri="{FF2B5EF4-FFF2-40B4-BE49-F238E27FC236}">
                <a16:creationId xmlns:a16="http://schemas.microsoft.com/office/drawing/2014/main" id="{C8F5567F-F6C9-437F-9E0C-21D3C110DB40}"/>
              </a:ext>
            </a:extLst>
          </p:cNvPr>
          <p:cNvSpPr>
            <a:spLocks xmlns:a="http://schemas.openxmlformats.org/drawingml/2006/main" noGrp="1"/>
          </p:cNvSpPr>
          <p:nvPr/>
        </p:nvSpPr>
        <p:spPr>
          <a:xfrm xmlns:a="http://schemas.openxmlformats.org/drawingml/2006/main">
            <a:off x="8629650" y="4133850"/>
            <a:ext cx="2952750" cy="1933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Scope default</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menyembunyikan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password dan hash key</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dari query biasa.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Middleware memakai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unscoped() untuk</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verifikasi internal.</a:t>
            </a:r>
          </a:p>
        </p:txBody>
      </p:sp>
      <p:sp>
        <p:nvSpPr>
          <p:cNvPr id="8" name="text-26">
            <a:extLst xmlns:a="http://schemas.openxmlformats.org/drawingml/2006/main">
              <a:ext uri="{FF2B5EF4-FFF2-40B4-BE49-F238E27FC236}">
                <a16:creationId xmlns:a16="http://schemas.microsoft.com/office/drawing/2014/main" id="{66D8A618-2057-454E-9DA3-6E5B9EF12D0B}"/>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Kenneth   3/3</a:t>
            </a:r>
          </a:p>
        </p:txBody>
      </p:sp>
      <p:sp>
        <p:nvSpPr>
          <p:cNvPr id="9" name="text-27">
            <a:extLst xmlns:a="http://schemas.openxmlformats.org/drawingml/2006/main">
              <a:ext uri="{FF2B5EF4-FFF2-40B4-BE49-F238E27FC236}">
                <a16:creationId xmlns:a16="http://schemas.microsoft.com/office/drawing/2014/main" id="{442931C5-391F-4AA8-875A-D6900CF14A9A}"/>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03/12</a:t>
            </a:r>
          </a:p>
        </p:txBody>
      </p:sp>
    </p:spTree>
    <p:extLst>
      <p:ext uri="{BB962C8B-B14F-4D97-AF65-F5344CB8AC3E}">
        <p14:creationId xmlns:p14="http://schemas.microsoft.com/office/powerpoint/2010/main" val="2082466708"/>
      </p:ext>
    </p:extLst>
  </p:cSld>
</p:sld>
</file>

<file path=ppt/slides/slide4.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28">
            <a:extLst xmlns:a="http://schemas.openxmlformats.org/drawingml/2006/main">
              <a:ext uri="{FF2B5EF4-FFF2-40B4-BE49-F238E27FC236}">
                <a16:creationId xmlns:a16="http://schemas.microsoft.com/office/drawing/2014/main" id="{89324882-5A8B-4686-AF45-E48D9F0C4102}"/>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Aturan bisnis Basic dan Premium</a:t>
            </a:r>
          </a:p>
        </p:txBody>
      </p:sp>
      <p:sp>
        <p:nvSpPr>
          <p:cNvPr id="2" name="text-29">
            <a:extLst xmlns:a="http://schemas.openxmlformats.org/drawingml/2006/main">
              <a:ext uri="{FF2B5EF4-FFF2-40B4-BE49-F238E27FC236}">
                <a16:creationId xmlns:a16="http://schemas.microsoft.com/office/drawing/2014/main" id="{A6B0EA47-A8EB-41FC-B018-330B76B610C6}"/>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src/config/apiPlans.js  2–7</a:t>
            </a:r>
          </a:p>
        </p:txBody>
      </p:sp>
      <p:sp>
        <p:nvSpPr>
          <p:cNvPr id="3" name="javascript-excerpt">
            <a:extLst xmlns:a="http://schemas.openxmlformats.org/drawingml/2006/main">
              <a:ext uri="{FF2B5EF4-FFF2-40B4-BE49-F238E27FC236}">
                <a16:creationId xmlns:a16="http://schemas.microsoft.com/office/drawing/2014/main" id="{BB530501-ED8E-41AF-89C9-74160EEB64D5}"/>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API_PLANS = Object.freeze({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basic: Object.freeze({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name: "Basic", priceMonthly: 0,</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dailyLimit: 100, minuteLimit: 10,</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features: ["ringkasan"]</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premium: Object.freeze({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name: "Premium", priceMonthly: 99000,</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dailyLimit: 10000, minuteLimit: 100,</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features: ["ringkasan", "analitik"]</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p:txBody>
      </p:sp>
      <p:sp>
        <p:nvSpPr>
          <p:cNvPr id="4" name="text-31">
            <a:extLst xmlns:a="http://schemas.openxmlformats.org/drawingml/2006/main">
              <a:ext uri="{FF2B5EF4-FFF2-40B4-BE49-F238E27FC236}">
                <a16:creationId xmlns:a16="http://schemas.microsoft.com/office/drawing/2014/main" id="{75FEADEE-9615-4026-AC4D-9B10D1C167EF}"/>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Aturan paket</a:t>
            </a:r>
          </a:p>
        </p:txBody>
      </p:sp>
      <p:sp>
        <p:nvSpPr>
          <p:cNvPr id="5" name="text-32">
            <a:extLst xmlns:a="http://schemas.openxmlformats.org/drawingml/2006/main">
              <a:ext uri="{FF2B5EF4-FFF2-40B4-BE49-F238E27FC236}">
                <a16:creationId xmlns:a16="http://schemas.microsoft.com/office/drawing/2014/main" id="{F2C5A52A-2EBA-46DA-97F8-3F2684EFB7F0}"/>
              </a:ext>
            </a:extLst>
          </p:cNvPr>
          <p:cNvSpPr>
            <a:spLocks xmlns:a="http://schemas.openxmlformats.org/drawingml/2006/main" noGrp="1"/>
          </p:cNvSpPr>
          <p:nvPr/>
        </p:nvSpPr>
        <p:spPr>
          <a:xfrm xmlns:a="http://schemas.openxmlformats.org/drawingml/2006/main">
            <a:off x="8629650" y="2066925"/>
            <a:ext cx="2952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Basic: 100 request/hari,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10/menit, dan ringkasan.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Premium: 10.000/hari,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100/menit, serta analitik.</a:t>
            </a:r>
          </a:p>
        </p:txBody>
      </p:sp>
      <p:sp>
        <p:nvSpPr>
          <p:cNvPr id="6" name="text-33">
            <a:extLst xmlns:a="http://schemas.openxmlformats.org/drawingml/2006/main">
              <a:ext uri="{FF2B5EF4-FFF2-40B4-BE49-F238E27FC236}">
                <a16:creationId xmlns:a16="http://schemas.microsoft.com/office/drawing/2014/main" id="{87473C7B-B6E8-4BD2-83B1-5E4CF2BC6AD1}"/>
              </a:ext>
            </a:extLst>
          </p:cNvPr>
          <p:cNvSpPr>
            <a:spLocks xmlns:a="http://schemas.openxmlformats.org/drawingml/2006/main" noGrp="1"/>
          </p:cNvSpPr>
          <p:nvPr/>
        </p:nvSpPr>
        <p:spPr>
          <a:xfrm xmlns:a="http://schemas.openxmlformats.org/drawingml/2006/main">
            <a:off x="8629650" y="34385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Harga simulasi</a:t>
            </a:r>
          </a:p>
        </p:txBody>
      </p:sp>
      <p:sp>
        <p:nvSpPr>
          <p:cNvPr id="7" name="text-34">
            <a:extLst xmlns:a="http://schemas.openxmlformats.org/drawingml/2006/main">
              <a:ext uri="{FF2B5EF4-FFF2-40B4-BE49-F238E27FC236}">
                <a16:creationId xmlns:a16="http://schemas.microsoft.com/office/drawing/2014/main" id="{6E1E8049-E914-4386-9F6E-D38D247045E7}"/>
              </a:ext>
            </a:extLst>
          </p:cNvPr>
          <p:cNvSpPr>
            <a:spLocks xmlns:a="http://schemas.openxmlformats.org/drawingml/2006/main" noGrp="1"/>
          </p:cNvSpPr>
          <p:nvPr/>
        </p:nvSpPr>
        <p:spPr>
          <a:xfrm xmlns:a="http://schemas.openxmlformats.org/drawingml/2006/main">
            <a:off x="8629650" y="3857625"/>
            <a:ext cx="2952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Premium</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Rp99.000/bulan sebagai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simulasi. Admin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mengaktifkan paket.</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Kode belum memproses</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pembayaran.</a:t>
            </a:r>
          </a:p>
        </p:txBody>
      </p:sp>
      <p:sp>
        <p:nvSpPr>
          <p:cNvPr id="8" name="text-35">
            <a:extLst xmlns:a="http://schemas.openxmlformats.org/drawingml/2006/main">
              <a:ext uri="{FF2B5EF4-FFF2-40B4-BE49-F238E27FC236}">
                <a16:creationId xmlns:a16="http://schemas.microsoft.com/office/drawing/2014/main" id="{20962481-4CD7-4A7E-BEE9-08CEDEF28A0E}"/>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Bryan   1/3</a:t>
            </a:r>
          </a:p>
        </p:txBody>
      </p:sp>
      <p:sp>
        <p:nvSpPr>
          <p:cNvPr id="9" name="text-36">
            <a:extLst xmlns:a="http://schemas.openxmlformats.org/drawingml/2006/main">
              <a:ext uri="{FF2B5EF4-FFF2-40B4-BE49-F238E27FC236}">
                <a16:creationId xmlns:a16="http://schemas.microsoft.com/office/drawing/2014/main" id="{374905B0-981E-45EC-A398-CA95AAE6F8C0}"/>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04/12</a:t>
            </a:r>
          </a:p>
        </p:txBody>
      </p:sp>
    </p:spTree>
    <p:extLst>
      <p:ext uri="{BB962C8B-B14F-4D97-AF65-F5344CB8AC3E}">
        <p14:creationId xmlns:p14="http://schemas.microsoft.com/office/powerpoint/2010/main" val="1666820754"/>
      </p:ext>
    </p:extLst>
  </p:cSld>
</p:sld>
</file>

<file path=ppt/slides/slide5.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37">
            <a:extLst xmlns:a="http://schemas.openxmlformats.org/drawingml/2006/main">
              <a:ext uri="{FF2B5EF4-FFF2-40B4-BE49-F238E27FC236}">
                <a16:creationId xmlns:a16="http://schemas.microsoft.com/office/drawing/2014/main" id="{AD8F5CA9-4EDF-41A1-B494-6500763A82C1}"/>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Penerbitan dan penggantian API key</a:t>
            </a:r>
          </a:p>
        </p:txBody>
      </p:sp>
      <p:sp>
        <p:nvSpPr>
          <p:cNvPr id="2" name="text-38">
            <a:extLst xmlns:a="http://schemas.openxmlformats.org/drawingml/2006/main">
              <a:ext uri="{FF2B5EF4-FFF2-40B4-BE49-F238E27FC236}">
                <a16:creationId xmlns:a16="http://schemas.microsoft.com/office/drawing/2014/main" id="{AE231A17-0384-4C18-81F8-95832676D2E3}"/>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src/utils/apiKey.js  3–6</a:t>
            </a:r>
          </a:p>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src/controllers/apiKey.js  13–14, 21–22</a:t>
            </a:r>
          </a:p>
        </p:txBody>
      </p:sp>
      <p:sp>
        <p:nvSpPr>
          <p:cNvPr id="3" name="javascript-excerpt">
            <a:extLst xmlns:a="http://schemas.openxmlformats.org/drawingml/2006/main">
              <a:ext uri="{FF2B5EF4-FFF2-40B4-BE49-F238E27FC236}">
                <a16:creationId xmlns:a16="http://schemas.microsoft.com/office/drawing/2014/main" id="{26D59B51-9E45-4366-A1CC-9428D60704B4}"/>
              </a:ext>
            </a:extLst>
          </p:cNvPr>
          <p:cNvSpPr>
            <a:spLocks xmlns:a="http://schemas.openxmlformats.org/drawingml/2006/main" noGrp="1"/>
          </p:cNvSpPr>
          <p:nvPr/>
        </p:nvSpPr>
        <p:spPr>
          <a:xfrm xmlns:a="http://schemas.openxmlformats.org/drawingml/2006/main">
            <a:off x="609600" y="1800225"/>
            <a:ext cx="7677150" cy="437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createApiKey = () =&gt;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`bd_live_${crypto.randomBytes(32).toString("hex")}`;</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hashApiKey = (rawKey) =&gt;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crypto.createHash("sha256")</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.update(rawKey).digest("hex");</a:t>
            </a:r>
          </a:p>
          <a:p xmlns:a="http://schemas.openxmlformats.org/drawingml/2006/main">
            <a:r>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rawKey = createApiKey();</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await user.update(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 api_key: hashApiKey(rawKey) }, { transaction });</a:t>
            </a:r>
          </a:p>
          <a:p xmlns:a="http://schemas.openxmlformats.org/drawingml/2006/main">
            <a:r>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generate = issue(false);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regenerate = issue(true);</a:t>
            </a:r>
          </a:p>
        </p:txBody>
      </p:sp>
      <p:sp>
        <p:nvSpPr>
          <p:cNvPr id="4" name="text-40">
            <a:extLst xmlns:a="http://schemas.openxmlformats.org/drawingml/2006/main">
              <a:ext uri="{FF2B5EF4-FFF2-40B4-BE49-F238E27FC236}">
                <a16:creationId xmlns:a16="http://schemas.microsoft.com/office/drawing/2014/main" id="{D647207A-C0AD-4824-A0B0-F439131223AE}"/>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Key acak dan hash</a:t>
            </a:r>
          </a:p>
        </p:txBody>
      </p:sp>
      <p:sp>
        <p:nvSpPr>
          <p:cNvPr id="5" name="text-41">
            <a:extLst xmlns:a="http://schemas.openxmlformats.org/drawingml/2006/main">
              <a:ext uri="{FF2B5EF4-FFF2-40B4-BE49-F238E27FC236}">
                <a16:creationId xmlns:a16="http://schemas.microsoft.com/office/drawing/2014/main" id="{28ECE0FB-7A4D-4E33-9B48-41A47C92AB1E}"/>
              </a:ext>
            </a:extLst>
          </p:cNvPr>
          <p:cNvSpPr>
            <a:spLocks xmlns:a="http://schemas.openxmlformats.org/drawingml/2006/main" noGrp="1"/>
          </p:cNvSpPr>
          <p:nvPr/>
        </p:nvSpPr>
        <p:spPr>
          <a:xfrm xmlns:a="http://schemas.openxmlformats.org/drawingml/2006/main">
            <a:off x="8629650" y="2066925"/>
            <a:ext cx="2952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randomBytes(32)</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menghasilkan key acak</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256 bit. Server</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menyimpan hash dan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menampilkan key asli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sekali.</a:t>
            </a:r>
          </a:p>
        </p:txBody>
      </p:sp>
      <p:sp>
        <p:nvSpPr>
          <p:cNvPr id="6" name="text-42">
            <a:extLst xmlns:a="http://schemas.openxmlformats.org/drawingml/2006/main">
              <a:ext uri="{FF2B5EF4-FFF2-40B4-BE49-F238E27FC236}">
                <a16:creationId xmlns:a16="http://schemas.microsoft.com/office/drawing/2014/main" id="{85A61746-4D11-4E48-A7DA-1D17572840D8}"/>
              </a:ext>
            </a:extLst>
          </p:cNvPr>
          <p:cNvSpPr>
            <a:spLocks xmlns:a="http://schemas.openxmlformats.org/drawingml/2006/main" noGrp="1"/>
          </p:cNvSpPr>
          <p:nvPr/>
        </p:nvSpPr>
        <p:spPr>
          <a:xfrm xmlns:a="http://schemas.openxmlformats.org/drawingml/2006/main">
            <a:off x="8629650" y="39909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Rotasi key</a:t>
            </a:r>
          </a:p>
        </p:txBody>
      </p:sp>
      <p:sp>
        <p:nvSpPr>
          <p:cNvPr id="7" name="text-43">
            <a:extLst xmlns:a="http://schemas.openxmlformats.org/drawingml/2006/main">
              <a:ext uri="{FF2B5EF4-FFF2-40B4-BE49-F238E27FC236}">
                <a16:creationId xmlns:a16="http://schemas.microsoft.com/office/drawing/2014/main" id="{701348ED-E1EE-4FF8-B60C-3AA22CB03460}"/>
              </a:ext>
            </a:extLst>
          </p:cNvPr>
          <p:cNvSpPr>
            <a:spLocks xmlns:a="http://schemas.openxmlformats.org/drawingml/2006/main" noGrp="1"/>
          </p:cNvSpPr>
          <p:nvPr/>
        </p:nvSpPr>
        <p:spPr>
          <a:xfrm xmlns:a="http://schemas.openxmlformats.org/drawingml/2006/main">
            <a:off x="8629650" y="4410075"/>
            <a:ext cx="2952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issue(true) mengganti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hash sehingga key lama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gagal. Riwayat kuota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akun tetap tersimpan.</a:t>
            </a:r>
          </a:p>
        </p:txBody>
      </p:sp>
      <p:sp>
        <p:nvSpPr>
          <p:cNvPr id="8" name="text-44">
            <a:extLst xmlns:a="http://schemas.openxmlformats.org/drawingml/2006/main">
              <a:ext uri="{FF2B5EF4-FFF2-40B4-BE49-F238E27FC236}">
                <a16:creationId xmlns:a16="http://schemas.microsoft.com/office/drawing/2014/main" id="{940587B5-4077-4653-88D0-CCFB22FDE509}"/>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Bryan   2/3</a:t>
            </a:r>
          </a:p>
        </p:txBody>
      </p:sp>
      <p:sp>
        <p:nvSpPr>
          <p:cNvPr id="9" name="text-45">
            <a:extLst xmlns:a="http://schemas.openxmlformats.org/drawingml/2006/main">
              <a:ext uri="{FF2B5EF4-FFF2-40B4-BE49-F238E27FC236}">
                <a16:creationId xmlns:a16="http://schemas.microsoft.com/office/drawing/2014/main" id="{F9BE1B22-42DA-471B-A9D9-29A326E27529}"/>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05/12</a:t>
            </a:r>
          </a:p>
        </p:txBody>
      </p:sp>
    </p:spTree>
    <p:extLst>
      <p:ext uri="{BB962C8B-B14F-4D97-AF65-F5344CB8AC3E}">
        <p14:creationId xmlns:p14="http://schemas.microsoft.com/office/powerpoint/2010/main" val="808209502"/>
      </p:ext>
    </p:extLst>
  </p:cSld>
</p:sld>
</file>

<file path=ppt/slides/slide6.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46">
            <a:extLst xmlns:a="http://schemas.openxmlformats.org/drawingml/2006/main">
              <a:ext uri="{FF2B5EF4-FFF2-40B4-BE49-F238E27FC236}">
                <a16:creationId xmlns:a16="http://schemas.microsoft.com/office/drawing/2014/main" id="{2704366D-BF6D-4BA4-8782-1B94648C08A8}"/>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Aktivasi paket melalui admin</a:t>
            </a:r>
          </a:p>
        </p:txBody>
      </p:sp>
      <p:sp>
        <p:nvSpPr>
          <p:cNvPr id="2" name="text-47">
            <a:extLst xmlns:a="http://schemas.openxmlformats.org/drawingml/2006/main">
              <a:ext uri="{FF2B5EF4-FFF2-40B4-BE49-F238E27FC236}">
                <a16:creationId xmlns:a16="http://schemas.microsoft.com/office/drawing/2014/main" id="{9760B677-77AA-4CFD-BE59-B76171059A1B}"/>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src/routes/apiKey.js  6, 10</a:t>
            </a:r>
          </a:p>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src/controllers/apiKey.js  42–44</a:t>
            </a:r>
          </a:p>
        </p:txBody>
      </p:sp>
      <p:sp>
        <p:nvSpPr>
          <p:cNvPr id="3" name="javascript-excerpt">
            <a:extLst xmlns:a="http://schemas.openxmlformats.org/drawingml/2006/main">
              <a:ext uri="{FF2B5EF4-FFF2-40B4-BE49-F238E27FC236}">
                <a16:creationId xmlns:a16="http://schemas.microsoft.com/office/drawing/2014/main" id="{1D5E554D-D83F-4AF8-A693-555D963DD078}"/>
              </a:ext>
            </a:extLst>
          </p:cNvPr>
          <p:cNvSpPr>
            <a:spLocks xmlns:a="http://schemas.openxmlformats.org/drawingml/2006/main" noGrp="1"/>
          </p:cNvSpPr>
          <p:nvPr/>
        </p:nvSpPr>
        <p:spPr>
          <a:xfrm xmlns:a="http://schemas.openxmlformats.org/drawingml/2006/main">
            <a:off x="609600" y="1800225"/>
            <a:ext cx="7677150" cy="437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router.use(verifyJWT);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router.patch("/level/:id", checkRoles("admin"),</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asyncHandler(c.setLevel));</a:t>
            </a:r>
          </a:p>
          <a:p xmlns:a="http://schemas.openxmlformats.org/drawingml/2006/main">
            <a:r>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user = await Pengguna.findByPk(id);</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if (!user)</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return res.status(404).json({ code: "USER_NOT_FOUND"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await user.update({ api_level: body.api_level });</a:t>
            </a:r>
          </a:p>
        </p:txBody>
      </p:sp>
      <p:sp>
        <p:nvSpPr>
          <p:cNvPr id="4" name="text-49">
            <a:extLst xmlns:a="http://schemas.openxmlformats.org/drawingml/2006/main">
              <a:ext uri="{FF2B5EF4-FFF2-40B4-BE49-F238E27FC236}">
                <a16:creationId xmlns:a16="http://schemas.microsoft.com/office/drawing/2014/main" id="{6732FE83-056F-41AF-89BE-7BABE0A3624C}"/>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Akses admin</a:t>
            </a:r>
          </a:p>
        </p:txBody>
      </p:sp>
      <p:sp>
        <p:nvSpPr>
          <p:cNvPr id="5" name="text-50">
            <a:extLst xmlns:a="http://schemas.openxmlformats.org/drawingml/2006/main">
              <a:ext uri="{FF2B5EF4-FFF2-40B4-BE49-F238E27FC236}">
                <a16:creationId xmlns:a16="http://schemas.microsoft.com/office/drawing/2014/main" id="{1BE253E3-41C7-4F36-B6DA-DC0DC1E67F3E}"/>
              </a:ext>
            </a:extLst>
          </p:cNvPr>
          <p:cNvSpPr>
            <a:spLocks xmlns:a="http://schemas.openxmlformats.org/drawingml/2006/main" noGrp="1"/>
          </p:cNvSpPr>
          <p:nvPr/>
        </p:nvSpPr>
        <p:spPr>
          <a:xfrm xmlns:a="http://schemas.openxmlformats.org/drawingml/2006/main">
            <a:off x="8629650" y="20669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verifyJWT memeriksa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login.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checkRoles("admin")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membatasi perubahan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paket kepada admin.</a:t>
            </a:r>
          </a:p>
        </p:txBody>
      </p:sp>
      <p:sp>
        <p:nvSpPr>
          <p:cNvPr id="6" name="text-51">
            <a:extLst xmlns:a="http://schemas.openxmlformats.org/drawingml/2006/main">
              <a:ext uri="{FF2B5EF4-FFF2-40B4-BE49-F238E27FC236}">
                <a16:creationId xmlns:a16="http://schemas.microsoft.com/office/drawing/2014/main" id="{03732A95-F848-4A99-BF41-73174738AE7B}"/>
              </a:ext>
            </a:extLst>
          </p:cNvPr>
          <p:cNvSpPr>
            <a:spLocks xmlns:a="http://schemas.openxmlformats.org/drawingml/2006/main" noGrp="1"/>
          </p:cNvSpPr>
          <p:nvPr/>
        </p:nvSpPr>
        <p:spPr>
          <a:xfrm xmlns:a="http://schemas.openxmlformats.org/drawingml/2006/main">
            <a:off x="8629650" y="371475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Paket berlaku</a:t>
            </a:r>
          </a:p>
        </p:txBody>
      </p:sp>
      <p:sp>
        <p:nvSpPr>
          <p:cNvPr id="7" name="text-52">
            <a:extLst xmlns:a="http://schemas.openxmlformats.org/drawingml/2006/main">
              <a:ext uri="{FF2B5EF4-FFF2-40B4-BE49-F238E27FC236}">
                <a16:creationId xmlns:a16="http://schemas.microsoft.com/office/drawing/2014/main" id="{A140DADA-99C8-4FB6-9DFD-EBF472473D96}"/>
              </a:ext>
            </a:extLst>
          </p:cNvPr>
          <p:cNvSpPr>
            <a:spLocks xmlns:a="http://schemas.openxmlformats.org/drawingml/2006/main" noGrp="1"/>
          </p:cNvSpPr>
          <p:nvPr/>
        </p:nvSpPr>
        <p:spPr>
          <a:xfrm xmlns:a="http://schemas.openxmlformats.org/drawingml/2006/main">
            <a:off x="8629650" y="4133850"/>
            <a:ext cx="2952750" cy="1933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update() mengganti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api_level akun tujuan.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Request partner</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berikutnya memakai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paket baru. Aktivasi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mensimulasikan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pembayaran pelanggan.</a:t>
            </a:r>
          </a:p>
        </p:txBody>
      </p:sp>
      <p:sp>
        <p:nvSpPr>
          <p:cNvPr id="8" name="text-53">
            <a:extLst xmlns:a="http://schemas.openxmlformats.org/drawingml/2006/main">
              <a:ext uri="{FF2B5EF4-FFF2-40B4-BE49-F238E27FC236}">
                <a16:creationId xmlns:a16="http://schemas.microsoft.com/office/drawing/2014/main" id="{8981B5D0-2C7C-4C87-B884-4996AFAD6BF5}"/>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Bryan   3/3</a:t>
            </a:r>
          </a:p>
        </p:txBody>
      </p:sp>
      <p:sp>
        <p:nvSpPr>
          <p:cNvPr id="9" name="text-54">
            <a:extLst xmlns:a="http://schemas.openxmlformats.org/drawingml/2006/main">
              <a:ext uri="{FF2B5EF4-FFF2-40B4-BE49-F238E27FC236}">
                <a16:creationId xmlns:a16="http://schemas.microsoft.com/office/drawing/2014/main" id="{F9A0E16E-7E27-41C1-8319-E0989A974C0E}"/>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06/12</a:t>
            </a:r>
          </a:p>
        </p:txBody>
      </p:sp>
    </p:spTree>
    <p:extLst>
      <p:ext uri="{BB962C8B-B14F-4D97-AF65-F5344CB8AC3E}">
        <p14:creationId xmlns:p14="http://schemas.microsoft.com/office/powerpoint/2010/main" val="879928269"/>
      </p:ext>
    </p:extLst>
  </p:cSld>
</p:sld>
</file>

<file path=ppt/slides/slide7.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55">
            <a:extLst xmlns:a="http://schemas.openxmlformats.org/drawingml/2006/main">
              <a:ext uri="{FF2B5EF4-FFF2-40B4-BE49-F238E27FC236}">
                <a16:creationId xmlns:a16="http://schemas.microsoft.com/office/drawing/2014/main" id="{8A4BD18A-B26B-49FD-A2E2-9018E8FBD338}"/>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Verifikasi header X-API-Key</a:t>
            </a:r>
          </a:p>
        </p:txBody>
      </p:sp>
      <p:sp>
        <p:nvSpPr>
          <p:cNvPr id="2" name="text-56">
            <a:extLst xmlns:a="http://schemas.openxmlformats.org/drawingml/2006/main">
              <a:ext uri="{FF2B5EF4-FFF2-40B4-BE49-F238E27FC236}">
                <a16:creationId xmlns:a16="http://schemas.microsoft.com/office/drawing/2014/main" id="{CEC2AD8B-CB92-4868-85C8-E62C9EDADD47}"/>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src/middlewares/verifyApiKey.js  4–11</a:t>
            </a:r>
          </a:p>
        </p:txBody>
      </p:sp>
      <p:sp>
        <p:nvSpPr>
          <p:cNvPr id="3" name="javascript-excerpt">
            <a:extLst xmlns:a="http://schemas.openxmlformats.org/drawingml/2006/main">
              <a:ext uri="{FF2B5EF4-FFF2-40B4-BE49-F238E27FC236}">
                <a16:creationId xmlns:a16="http://schemas.microsoft.com/office/drawing/2014/main" id="{12EB007D-443B-46DB-BE9D-EEE7261616EC}"/>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rawKey = req.get("X-API-Key");</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if (!isApiKey(rawKey))</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return res.status(401).json({</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code: "INVALID_API_KEY"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keyHash = hashApiKey(rawKey);</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user = await Pengguna.unscoped().findOne({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where: { api_key: keyHash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attributes: ["id", "api_level"]</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if (!user)</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return res.status(401).json({</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code: "INVALID_API_KEY"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req.apiClient =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id: user.id, level: user.api_level, keyHash</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next();</a:t>
            </a:r>
          </a:p>
        </p:txBody>
      </p:sp>
      <p:sp>
        <p:nvSpPr>
          <p:cNvPr id="4" name="text-58">
            <a:extLst xmlns:a="http://schemas.openxmlformats.org/drawingml/2006/main">
              <a:ext uri="{FF2B5EF4-FFF2-40B4-BE49-F238E27FC236}">
                <a16:creationId xmlns:a16="http://schemas.microsoft.com/office/drawing/2014/main" id="{77AF19A1-A28E-42BC-AE3E-C2457FBAC21F}"/>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Pencocokan key</a:t>
            </a:r>
          </a:p>
        </p:txBody>
      </p:sp>
      <p:sp>
        <p:nvSpPr>
          <p:cNvPr id="5" name="text-59">
            <a:extLst xmlns:a="http://schemas.openxmlformats.org/drawingml/2006/main">
              <a:ext uri="{FF2B5EF4-FFF2-40B4-BE49-F238E27FC236}">
                <a16:creationId xmlns:a16="http://schemas.microsoft.com/office/drawing/2014/main" id="{D9BF1CDE-F5CA-411F-B6CD-A4E3E45DB815}"/>
              </a:ext>
            </a:extLst>
          </p:cNvPr>
          <p:cNvSpPr>
            <a:spLocks xmlns:a="http://schemas.openxmlformats.org/drawingml/2006/main" noGrp="1"/>
          </p:cNvSpPr>
          <p:nvPr/>
        </p:nvSpPr>
        <p:spPr>
          <a:xfrm xmlns:a="http://schemas.openxmlformats.org/drawingml/2006/main">
            <a:off x="8629650" y="20669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Middleware membaca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header, memvalidasi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format, lalu mencari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akun berdasarkan hash</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key.</a:t>
            </a:r>
          </a:p>
        </p:txBody>
      </p:sp>
      <p:sp>
        <p:nvSpPr>
          <p:cNvPr id="6" name="text-60">
            <a:extLst xmlns:a="http://schemas.openxmlformats.org/drawingml/2006/main">
              <a:ext uri="{FF2B5EF4-FFF2-40B4-BE49-F238E27FC236}">
                <a16:creationId xmlns:a16="http://schemas.microsoft.com/office/drawing/2014/main" id="{DA6BDA1E-A460-4FE4-8C21-CAD93A123685}"/>
              </a:ext>
            </a:extLst>
          </p:cNvPr>
          <p:cNvSpPr>
            <a:spLocks xmlns:a="http://schemas.openxmlformats.org/drawingml/2006/main" noGrp="1"/>
          </p:cNvSpPr>
          <p:nvPr/>
        </p:nvSpPr>
        <p:spPr>
          <a:xfrm xmlns:a="http://schemas.openxmlformats.org/drawingml/2006/main">
            <a:off x="8629650" y="371475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Hasil verifikasi</a:t>
            </a:r>
          </a:p>
        </p:txBody>
      </p:sp>
      <p:sp>
        <p:nvSpPr>
          <p:cNvPr id="7" name="text-61">
            <a:extLst xmlns:a="http://schemas.openxmlformats.org/drawingml/2006/main">
              <a:ext uri="{FF2B5EF4-FFF2-40B4-BE49-F238E27FC236}">
                <a16:creationId xmlns:a16="http://schemas.microsoft.com/office/drawing/2014/main" id="{3DA44A30-418F-4C49-AE77-AEA5F846D081}"/>
              </a:ext>
            </a:extLst>
          </p:cNvPr>
          <p:cNvSpPr>
            <a:spLocks xmlns:a="http://schemas.openxmlformats.org/drawingml/2006/main" noGrp="1"/>
          </p:cNvSpPr>
          <p:nvPr/>
        </p:nvSpPr>
        <p:spPr>
          <a:xfrm xmlns:a="http://schemas.openxmlformats.org/drawingml/2006/main">
            <a:off x="8629650" y="4133850"/>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Key hilang atau salah</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mendapat 401. Key valid</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mengisi req.apiClient</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untuk pemeriksaan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paket dan kuota.</a:t>
            </a:r>
          </a:p>
        </p:txBody>
      </p:sp>
      <p:sp>
        <p:nvSpPr>
          <p:cNvPr id="8" name="text-62">
            <a:extLst xmlns:a="http://schemas.openxmlformats.org/drawingml/2006/main">
              <a:ext uri="{FF2B5EF4-FFF2-40B4-BE49-F238E27FC236}">
                <a16:creationId xmlns:a16="http://schemas.microsoft.com/office/drawing/2014/main" id="{91D2C84A-BF13-4C84-8534-537C2C2AE2A0}"/>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Dana   1/3</a:t>
            </a:r>
          </a:p>
        </p:txBody>
      </p:sp>
      <p:sp>
        <p:nvSpPr>
          <p:cNvPr id="9" name="text-63">
            <a:extLst xmlns:a="http://schemas.openxmlformats.org/drawingml/2006/main">
              <a:ext uri="{FF2B5EF4-FFF2-40B4-BE49-F238E27FC236}">
                <a16:creationId xmlns:a16="http://schemas.microsoft.com/office/drawing/2014/main" id="{8CBA2E4F-4EF6-4F06-8CF8-1515A9BDB51A}"/>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07/12</a:t>
            </a:r>
          </a:p>
        </p:txBody>
      </p:sp>
    </p:spTree>
    <p:extLst>
      <p:ext uri="{BB962C8B-B14F-4D97-AF65-F5344CB8AC3E}">
        <p14:creationId xmlns:p14="http://schemas.microsoft.com/office/powerpoint/2010/main" val="484399920"/>
      </p:ext>
    </p:extLst>
  </p:cSld>
</p:sld>
</file>

<file path=ppt/slides/slide8.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64">
            <a:extLst xmlns:a="http://schemas.openxmlformats.org/drawingml/2006/main">
              <a:ext uri="{FF2B5EF4-FFF2-40B4-BE49-F238E27FC236}">
                <a16:creationId xmlns:a16="http://schemas.microsoft.com/office/drawing/2014/main" id="{8E85CA09-F0C4-4137-930C-A58DFA3545C5}"/>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Pembatasan fitur berdasarkan paket</a:t>
            </a:r>
          </a:p>
        </p:txBody>
      </p:sp>
      <p:sp>
        <p:nvSpPr>
          <p:cNvPr id="2" name="text-65">
            <a:extLst xmlns:a="http://schemas.openxmlformats.org/drawingml/2006/main">
              <a:ext uri="{FF2B5EF4-FFF2-40B4-BE49-F238E27FC236}">
                <a16:creationId xmlns:a16="http://schemas.microsoft.com/office/drawing/2014/main" id="{C205A322-57F2-4866-8D9D-60896A31A842}"/>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src/middlewares/checkApiLevel.js  2–9</a:t>
            </a:r>
          </a:p>
        </p:txBody>
      </p:sp>
      <p:sp>
        <p:nvSpPr>
          <p:cNvPr id="3" name="javascript-excerpt">
            <a:extLst xmlns:a="http://schemas.openxmlformats.org/drawingml/2006/main">
              <a:ext uri="{FF2B5EF4-FFF2-40B4-BE49-F238E27FC236}">
                <a16:creationId xmlns:a16="http://schemas.microsoft.com/office/drawing/2014/main" id="{6363E3C0-0FE9-49E4-B0A0-C9CE13A78C4A}"/>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module.exports = (feature) =&gt; (req, res, next) =&gt;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const plan = API_PLANS[req.apiClient.level];</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if (!plan || !plan.features.includes(feature))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return res.status(403).json({</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code: "PLAN_FORBIDDEN",</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msg: "Fitur memerlukan paket Premium."</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req.apiFeature = feature;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next();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p:txBody>
      </p:sp>
      <p:sp>
        <p:nvSpPr>
          <p:cNvPr id="4" name="text-67">
            <a:extLst xmlns:a="http://schemas.openxmlformats.org/drawingml/2006/main">
              <a:ext uri="{FF2B5EF4-FFF2-40B4-BE49-F238E27FC236}">
                <a16:creationId xmlns:a16="http://schemas.microsoft.com/office/drawing/2014/main" id="{A40E85AF-FE10-4271-A13B-ECB9917AA563}"/>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Izin fitur</a:t>
            </a:r>
          </a:p>
        </p:txBody>
      </p:sp>
      <p:sp>
        <p:nvSpPr>
          <p:cNvPr id="5" name="text-68">
            <a:extLst xmlns:a="http://schemas.openxmlformats.org/drawingml/2006/main">
              <a:ext uri="{FF2B5EF4-FFF2-40B4-BE49-F238E27FC236}">
                <a16:creationId xmlns:a16="http://schemas.microsoft.com/office/drawing/2014/main" id="{92975901-F3EF-4AC7-A25C-E248D098E35D}"/>
              </a:ext>
            </a:extLst>
          </p:cNvPr>
          <p:cNvSpPr>
            <a:spLocks xmlns:a="http://schemas.openxmlformats.org/drawingml/2006/main" noGrp="1"/>
          </p:cNvSpPr>
          <p:nvPr/>
        </p:nvSpPr>
        <p:spPr>
          <a:xfrm xmlns:a="http://schemas.openxmlformats.org/drawingml/2006/main">
            <a:off x="8629650" y="20669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includes() memeriksa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izin fitur. Basic</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mendapat ringkasan.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Analitik memerlukan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Premium.</a:t>
            </a:r>
          </a:p>
        </p:txBody>
      </p:sp>
      <p:sp>
        <p:nvSpPr>
          <p:cNvPr id="6" name="text-69">
            <a:extLst xmlns:a="http://schemas.openxmlformats.org/drawingml/2006/main">
              <a:ext uri="{FF2B5EF4-FFF2-40B4-BE49-F238E27FC236}">
                <a16:creationId xmlns:a16="http://schemas.microsoft.com/office/drawing/2014/main" id="{3226E79A-DE7A-4765-86C5-E58F98076A88}"/>
              </a:ext>
            </a:extLst>
          </p:cNvPr>
          <p:cNvSpPr>
            <a:spLocks xmlns:a="http://schemas.openxmlformats.org/drawingml/2006/main" noGrp="1"/>
          </p:cNvSpPr>
          <p:nvPr/>
        </p:nvSpPr>
        <p:spPr>
          <a:xfrm xmlns:a="http://schemas.openxmlformats.org/drawingml/2006/main">
            <a:off x="8629650" y="371475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Penolakan akses</a:t>
            </a:r>
          </a:p>
        </p:txBody>
      </p:sp>
      <p:sp>
        <p:nvSpPr>
          <p:cNvPr id="7" name="text-70">
            <a:extLst xmlns:a="http://schemas.openxmlformats.org/drawingml/2006/main">
              <a:ext uri="{FF2B5EF4-FFF2-40B4-BE49-F238E27FC236}">
                <a16:creationId xmlns:a16="http://schemas.microsoft.com/office/drawing/2014/main" id="{C3A26D2B-9DF0-4D45-B509-725BC7783D2C}"/>
              </a:ext>
            </a:extLst>
          </p:cNvPr>
          <p:cNvSpPr>
            <a:spLocks xmlns:a="http://schemas.openxmlformats.org/drawingml/2006/main" noGrp="1"/>
          </p:cNvSpPr>
          <p:nvPr/>
        </p:nvSpPr>
        <p:spPr>
          <a:xfrm xmlns:a="http://schemas.openxmlformats.org/drawingml/2006/main">
            <a:off x="8629650" y="4133850"/>
            <a:ext cx="2952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Penolakan fitur</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menghasilkan 403.</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Route memeriksanya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sebelum reservasi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sehingga kuota tetap</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utuh.</a:t>
            </a:r>
          </a:p>
        </p:txBody>
      </p:sp>
      <p:sp>
        <p:nvSpPr>
          <p:cNvPr id="8" name="text-71">
            <a:extLst xmlns:a="http://schemas.openxmlformats.org/drawingml/2006/main">
              <a:ext uri="{FF2B5EF4-FFF2-40B4-BE49-F238E27FC236}">
                <a16:creationId xmlns:a16="http://schemas.microsoft.com/office/drawing/2014/main" id="{6D0B5837-C59D-4E87-8486-18E895C94C12}"/>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Dana   2/3</a:t>
            </a:r>
          </a:p>
        </p:txBody>
      </p:sp>
      <p:sp>
        <p:nvSpPr>
          <p:cNvPr id="9" name="text-72">
            <a:extLst xmlns:a="http://schemas.openxmlformats.org/drawingml/2006/main">
              <a:ext uri="{FF2B5EF4-FFF2-40B4-BE49-F238E27FC236}">
                <a16:creationId xmlns:a16="http://schemas.microsoft.com/office/drawing/2014/main" id="{19BD8786-2C53-4C8B-8EB1-F0AA21AD7567}"/>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08/12</a:t>
            </a:r>
          </a:p>
        </p:txBody>
      </p:sp>
    </p:spTree>
    <p:extLst>
      <p:ext uri="{BB962C8B-B14F-4D97-AF65-F5344CB8AC3E}">
        <p14:creationId xmlns:p14="http://schemas.microsoft.com/office/powerpoint/2010/main" val="250271308"/>
      </p:ext>
    </p:extLst>
  </p:cSld>
</p:sld>
</file>

<file path=ppt/slides/slide9.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73">
            <a:extLst xmlns:a="http://schemas.openxmlformats.org/drawingml/2006/main">
              <a:ext uri="{FF2B5EF4-FFF2-40B4-BE49-F238E27FC236}">
                <a16:creationId xmlns:a16="http://schemas.microsoft.com/office/drawing/2014/main" id="{41EE5774-3A99-4E3C-AAD7-59026C9C3DB0}"/>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Reservasi kuota dalam transaksi</a:t>
            </a:r>
          </a:p>
        </p:txBody>
      </p:sp>
      <p:sp>
        <p:nvSpPr>
          <p:cNvPr id="2" name="text-74">
            <a:extLst xmlns:a="http://schemas.openxmlformats.org/drawingml/2006/main">
              <a:ext uri="{FF2B5EF4-FFF2-40B4-BE49-F238E27FC236}">
                <a16:creationId xmlns:a16="http://schemas.microsoft.com/office/drawing/2014/main" id="{5F56C3DA-B2F4-44D7-92E5-5EF3B8C1F56E}"/>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src/services/apiUsage.js  33–34, 44–45, 47–48</a:t>
            </a:r>
          </a:p>
        </p:txBody>
      </p:sp>
      <p:sp>
        <p:nvSpPr>
          <p:cNvPr id="3" name="javascript-excerpt">
            <a:extLst xmlns:a="http://schemas.openxmlformats.org/drawingml/2006/main">
              <a:ext uri="{FF2B5EF4-FFF2-40B4-BE49-F238E27FC236}">
                <a16:creationId xmlns:a16="http://schemas.microsoft.com/office/drawing/2014/main" id="{9773BBE1-35D3-4D29-9F99-8046A35FEDE5}"/>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user = await Pengguna.unscoped().findByPk(</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penggunaId,</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 transaction, lock: transaction.LOCK.UPDATE });</a:t>
            </a:r>
          </a:p>
          <a:p xmlns:a="http://schemas.openxmlformats.org/drawingml/2006/main">
            <a:r>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if (used.minute &gt;= plan.minuteLimit)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return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error: 429, code: "RATE_LIMIT_EXCEEDED",</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retryAfter: Math.max(1,</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Math.ceil((range.minuteReset - now) / 1000))</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r>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log = await ApiLog.create(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 pengguna_id: user.id, endpoint,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http_method: method, createdAt: now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 transaction });</a:t>
            </a:r>
          </a:p>
        </p:txBody>
      </p:sp>
      <p:sp>
        <p:nvSpPr>
          <p:cNvPr id="4" name="text-76">
            <a:extLst xmlns:a="http://schemas.openxmlformats.org/drawingml/2006/main">
              <a:ext uri="{FF2B5EF4-FFF2-40B4-BE49-F238E27FC236}">
                <a16:creationId xmlns:a16="http://schemas.microsoft.com/office/drawing/2014/main" id="{30493D20-AEDE-401A-8E82-C576CBC7C322}"/>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Transaksi kuota</a:t>
            </a:r>
          </a:p>
        </p:txBody>
      </p:sp>
      <p:sp>
        <p:nvSpPr>
          <p:cNvPr id="5" name="text-77">
            <a:extLst xmlns:a="http://schemas.openxmlformats.org/drawingml/2006/main">
              <a:ext uri="{FF2B5EF4-FFF2-40B4-BE49-F238E27FC236}">
                <a16:creationId xmlns:a16="http://schemas.microsoft.com/office/drawing/2014/main" id="{6D137560-148E-4B50-9E56-78F78388D127}"/>
              </a:ext>
            </a:extLst>
          </p:cNvPr>
          <p:cNvSpPr>
            <a:spLocks xmlns:a="http://schemas.openxmlformats.org/drawingml/2006/main" noGrp="1"/>
          </p:cNvSpPr>
          <p:nvPr/>
        </p:nvSpPr>
        <p:spPr>
          <a:xfrm xmlns:a="http://schemas.openxmlformats.org/drawingml/2006/main">
            <a:off x="8629650" y="2066925"/>
            <a:ext cx="2952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Row lock mengurutkan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request per akun.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Transaksi mengecek</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penggunaan dan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mencatat slot sebelum</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controller berjalan.</a:t>
            </a:r>
          </a:p>
        </p:txBody>
      </p:sp>
      <p:sp>
        <p:nvSpPr>
          <p:cNvPr id="6" name="text-78">
            <a:extLst xmlns:a="http://schemas.openxmlformats.org/drawingml/2006/main">
              <a:ext uri="{FF2B5EF4-FFF2-40B4-BE49-F238E27FC236}">
                <a16:creationId xmlns:a16="http://schemas.microsoft.com/office/drawing/2014/main" id="{D03EC394-368D-415E-BED0-4BEC6CD57F7A}"/>
              </a:ext>
            </a:extLst>
          </p:cNvPr>
          <p:cNvSpPr>
            <a:spLocks xmlns:a="http://schemas.openxmlformats.org/drawingml/2006/main" noGrp="1"/>
          </p:cNvSpPr>
          <p:nvPr/>
        </p:nvSpPr>
        <p:spPr>
          <a:xfrm xmlns:a="http://schemas.openxmlformats.org/drawingml/2006/main">
            <a:off x="8629650" y="39909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Batas tercapai</a:t>
            </a:r>
          </a:p>
        </p:txBody>
      </p:sp>
      <p:sp>
        <p:nvSpPr>
          <p:cNvPr id="7" name="text-79">
            <a:extLst xmlns:a="http://schemas.openxmlformats.org/drawingml/2006/main">
              <a:ext uri="{FF2B5EF4-FFF2-40B4-BE49-F238E27FC236}">
                <a16:creationId xmlns:a16="http://schemas.microsoft.com/office/drawing/2014/main" id="{D818E7F0-0DFA-4E05-9E98-1A8D990CC1C2}"/>
              </a:ext>
            </a:extLst>
          </p:cNvPr>
          <p:cNvSpPr>
            <a:spLocks xmlns:a="http://schemas.openxmlformats.org/drawingml/2006/main" noGrp="1"/>
          </p:cNvSpPr>
          <p:nvPr/>
        </p:nvSpPr>
        <p:spPr>
          <a:xfrm xmlns:a="http://schemas.openxmlformats.org/drawingml/2006/main">
            <a:off x="8629650" y="441007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Batas Basic 10/menit.</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Request berikutnya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mendapat 429. Kuota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harian memakai periode</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UTC.</a:t>
            </a:r>
          </a:p>
        </p:txBody>
      </p:sp>
      <p:sp>
        <p:nvSpPr>
          <p:cNvPr id="8" name="text-80">
            <a:extLst xmlns:a="http://schemas.openxmlformats.org/drawingml/2006/main">
              <a:ext uri="{FF2B5EF4-FFF2-40B4-BE49-F238E27FC236}">
                <a16:creationId xmlns:a16="http://schemas.microsoft.com/office/drawing/2014/main" id="{7F985058-F6F8-4A23-A937-2899C49EC28C}"/>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Dana   3/3</a:t>
            </a:r>
          </a:p>
        </p:txBody>
      </p:sp>
      <p:sp>
        <p:nvSpPr>
          <p:cNvPr id="9" name="text-81">
            <a:extLst xmlns:a="http://schemas.openxmlformats.org/drawingml/2006/main">
              <a:ext uri="{FF2B5EF4-FFF2-40B4-BE49-F238E27FC236}">
                <a16:creationId xmlns:a16="http://schemas.microsoft.com/office/drawing/2014/main" id="{CEF70417-821E-4D11-87BD-3784FE70F2E4}"/>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09/12</a:t>
            </a:r>
          </a:p>
        </p:txBody>
      </p:sp>
    </p:spTree>
    <p:extLst>
      <p:ext uri="{BB962C8B-B14F-4D97-AF65-F5344CB8AC3E}">
        <p14:creationId xmlns:p14="http://schemas.microsoft.com/office/powerpoint/2010/main" val="1791790065"/>
      </p:ext>
    </p:extLst>
  </p:cSld>
</p:sld>
</file>

<file path=ppt/slides/slide10.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82">
            <a:extLst xmlns:a="http://schemas.openxmlformats.org/drawingml/2006/main">
              <a:ext uri="{FF2B5EF4-FFF2-40B4-BE49-F238E27FC236}">
                <a16:creationId xmlns:a16="http://schemas.microsoft.com/office/drawing/2014/main" id="{C7F657BE-35AE-459C-90CD-54964A732C7F}"/>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Rantai middleware pada layanan partner</a:t>
            </a:r>
          </a:p>
        </p:txBody>
      </p:sp>
      <p:sp>
        <p:nvSpPr>
          <p:cNvPr id="2" name="text-83">
            <a:extLst xmlns:a="http://schemas.openxmlformats.org/drawingml/2006/main">
              <a:ext uri="{FF2B5EF4-FFF2-40B4-BE49-F238E27FC236}">
                <a16:creationId xmlns:a16="http://schemas.microsoft.com/office/drawing/2014/main" id="{45BBBC93-6234-415F-B644-52A3CEF53CAE}"/>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src/routes/partner.js  8–11</a:t>
            </a:r>
          </a:p>
        </p:txBody>
      </p:sp>
      <p:sp>
        <p:nvSpPr>
          <p:cNvPr id="3" name="javascript-excerpt">
            <a:extLst xmlns:a="http://schemas.openxmlformats.org/drawingml/2006/main">
              <a:ext uri="{FF2B5EF4-FFF2-40B4-BE49-F238E27FC236}">
                <a16:creationId xmlns:a16="http://schemas.microsoft.com/office/drawing/2014/main" id="{DF0F396B-30F8-40A6-97F4-BAD2767779B9}"/>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router.get("/ringkasan",</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asyncHandler(verifyApiKey),</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checkApiLevel("ringkasan"),</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asyncHandler(limitApiUsage),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asyncHandler(ringkasan));</a:t>
            </a:r>
          </a:p>
          <a:p xmlns:a="http://schemas.openxmlformats.org/drawingml/2006/main">
            <a:r>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router.get("/analitik",</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asyncHandler(verifyApiKey),</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checkApiLevel("analitik"),</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asyncHandler(limitApiUsage),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asyncHandler(analitik));</a:t>
            </a:r>
          </a:p>
        </p:txBody>
      </p:sp>
      <p:sp>
        <p:nvSpPr>
          <p:cNvPr id="4" name="text-85">
            <a:extLst xmlns:a="http://schemas.openxmlformats.org/drawingml/2006/main">
              <a:ext uri="{FF2B5EF4-FFF2-40B4-BE49-F238E27FC236}">
                <a16:creationId xmlns:a16="http://schemas.microsoft.com/office/drawing/2014/main" id="{36482B99-BFFE-41C7-A780-C4A9813F5F90}"/>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Urutan middleware</a:t>
            </a:r>
          </a:p>
        </p:txBody>
      </p:sp>
      <p:sp>
        <p:nvSpPr>
          <p:cNvPr id="5" name="text-86">
            <a:extLst xmlns:a="http://schemas.openxmlformats.org/drawingml/2006/main">
              <a:ext uri="{FF2B5EF4-FFF2-40B4-BE49-F238E27FC236}">
                <a16:creationId xmlns:a16="http://schemas.microsoft.com/office/drawing/2014/main" id="{E000C6A2-9A74-44CA-881E-8AB080B9E945}"/>
              </a:ext>
            </a:extLst>
          </p:cNvPr>
          <p:cNvSpPr>
            <a:spLocks xmlns:a="http://schemas.openxmlformats.org/drawingml/2006/main" noGrp="1"/>
          </p:cNvSpPr>
          <p:nvPr/>
        </p:nvSpPr>
        <p:spPr>
          <a:xfrm xmlns:a="http://schemas.openxmlformats.org/drawingml/2006/main">
            <a:off x="8629650" y="2066925"/>
            <a:ext cx="2952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Urutan: verifikasi key,</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izin fitur, reservasi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kuota, lalu controller.</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asyncHandler</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meneruskan error ke</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error handler.</a:t>
            </a:r>
          </a:p>
        </p:txBody>
      </p:sp>
      <p:sp>
        <p:nvSpPr>
          <p:cNvPr id="6" name="text-87">
            <a:extLst xmlns:a="http://schemas.openxmlformats.org/drawingml/2006/main">
              <a:ext uri="{FF2B5EF4-FFF2-40B4-BE49-F238E27FC236}">
                <a16:creationId xmlns:a16="http://schemas.microsoft.com/office/drawing/2014/main" id="{3F4869D8-188A-4459-B3C5-6CF1A60A5539}"/>
              </a:ext>
            </a:extLst>
          </p:cNvPr>
          <p:cNvSpPr>
            <a:spLocks xmlns:a="http://schemas.openxmlformats.org/drawingml/2006/main" noGrp="1"/>
          </p:cNvSpPr>
          <p:nvPr/>
        </p:nvSpPr>
        <p:spPr>
          <a:xfrm xmlns:a="http://schemas.openxmlformats.org/drawingml/2006/main">
            <a:off x="8629650" y="39909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Akses layanan</a:t>
            </a:r>
          </a:p>
        </p:txBody>
      </p:sp>
      <p:sp>
        <p:nvSpPr>
          <p:cNvPr id="7" name="text-88">
            <a:extLst xmlns:a="http://schemas.openxmlformats.org/drawingml/2006/main">
              <a:ext uri="{FF2B5EF4-FFF2-40B4-BE49-F238E27FC236}">
                <a16:creationId xmlns:a16="http://schemas.microsoft.com/office/drawing/2014/main" id="{7DB713B1-ABCD-4339-9635-D32C80FF93EF}"/>
              </a:ext>
            </a:extLst>
          </p:cNvPr>
          <p:cNvSpPr>
            <a:spLocks xmlns:a="http://schemas.openxmlformats.org/drawingml/2006/main" noGrp="1"/>
          </p:cNvSpPr>
          <p:nvPr/>
        </p:nvSpPr>
        <p:spPr>
          <a:xfrm xmlns:a="http://schemas.openxmlformats.org/drawingml/2006/main">
            <a:off x="8629650" y="441007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Prefix route:</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/api/v1/partner.</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Ringkasan untuk kedua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paket. Analitik khusus</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Premium.</a:t>
            </a:r>
          </a:p>
        </p:txBody>
      </p:sp>
      <p:sp>
        <p:nvSpPr>
          <p:cNvPr id="8" name="text-89">
            <a:extLst xmlns:a="http://schemas.openxmlformats.org/drawingml/2006/main">
              <a:ext uri="{FF2B5EF4-FFF2-40B4-BE49-F238E27FC236}">
                <a16:creationId xmlns:a16="http://schemas.microsoft.com/office/drawing/2014/main" id="{AF1DFCA8-3FBF-4A18-9E7E-D4D04754D5F8}"/>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Rafael   1/3</a:t>
            </a:r>
          </a:p>
        </p:txBody>
      </p:sp>
      <p:sp>
        <p:nvSpPr>
          <p:cNvPr id="9" name="text-90">
            <a:extLst xmlns:a="http://schemas.openxmlformats.org/drawingml/2006/main">
              <a:ext uri="{FF2B5EF4-FFF2-40B4-BE49-F238E27FC236}">
                <a16:creationId xmlns:a16="http://schemas.microsoft.com/office/drawing/2014/main" id="{3D6CF50A-576E-4339-94BA-02BDCDFE605F}"/>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10/12</a:t>
            </a:r>
          </a:p>
        </p:txBody>
      </p:sp>
    </p:spTree>
    <p:extLst>
      <p:ext uri="{BB962C8B-B14F-4D97-AF65-F5344CB8AC3E}">
        <p14:creationId xmlns:p14="http://schemas.microsoft.com/office/powerpoint/2010/main" val="636855939"/>
      </p:ext>
    </p:extLst>
  </p:cSld>
</p:sld>
</file>

<file path=ppt/slides/slide11.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91">
            <a:extLst xmlns:a="http://schemas.openxmlformats.org/drawingml/2006/main">
              <a:ext uri="{FF2B5EF4-FFF2-40B4-BE49-F238E27FC236}">
                <a16:creationId xmlns:a16="http://schemas.microsoft.com/office/drawing/2014/main" id="{A8229E1F-B7B4-4421-AF96-9FDFEFDD5268}"/>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Ringkasan buku dari data aktual</a:t>
            </a:r>
          </a:p>
        </p:txBody>
      </p:sp>
      <p:sp>
        <p:nvSpPr>
          <p:cNvPr id="2" name="text-92">
            <a:extLst xmlns:a="http://schemas.openxmlformats.org/drawingml/2006/main">
              <a:ext uri="{FF2B5EF4-FFF2-40B4-BE49-F238E27FC236}">
                <a16:creationId xmlns:a16="http://schemas.microsoft.com/office/drawing/2014/main" id="{07395798-F907-4207-932B-45049A5C6170}"/>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src/controllers/partner.js  5–9</a:t>
            </a:r>
          </a:p>
        </p:txBody>
      </p:sp>
      <p:sp>
        <p:nvSpPr>
          <p:cNvPr id="3" name="javascript-excerpt">
            <a:extLst xmlns:a="http://schemas.openxmlformats.org/drawingml/2006/main">
              <a:ext uri="{FF2B5EF4-FFF2-40B4-BE49-F238E27FC236}">
                <a16:creationId xmlns:a16="http://schemas.microsoft.com/office/drawing/2014/main" id="{06A009C7-5FC6-495C-B367-6609730A120D}"/>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[row] = await Buku.findAll({</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attributes: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[sequelize.fn("COUNT", sequelize.col("id")),</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"total_judul"],</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[sequelize.fn("SUM", sequelize.col("stok")),</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"total_stok"],</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[sequelize.fn("AVG", sequelize.col("harga")),</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"rata_rata_harga"],</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raw: true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p:txBody>
      </p:sp>
      <p:sp>
        <p:nvSpPr>
          <p:cNvPr id="4" name="text-94">
            <a:extLst xmlns:a="http://schemas.openxmlformats.org/drawingml/2006/main">
              <a:ext uri="{FF2B5EF4-FFF2-40B4-BE49-F238E27FC236}">
                <a16:creationId xmlns:a16="http://schemas.microsoft.com/office/drawing/2014/main" id="{6C4C3B65-BE4C-4E61-B342-EB54A6DECD97}"/>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Produk paket Basic</a:t>
            </a:r>
          </a:p>
        </p:txBody>
      </p:sp>
      <p:sp>
        <p:nvSpPr>
          <p:cNvPr id="5" name="text-95">
            <a:extLst xmlns:a="http://schemas.openxmlformats.org/drawingml/2006/main">
              <a:ext uri="{FF2B5EF4-FFF2-40B4-BE49-F238E27FC236}">
                <a16:creationId xmlns:a16="http://schemas.microsoft.com/office/drawing/2014/main" id="{501D3351-9533-4954-82B4-B6B62EF08AB7}"/>
              </a:ext>
            </a:extLst>
          </p:cNvPr>
          <p:cNvSpPr>
            <a:spLocks xmlns:a="http://schemas.openxmlformats.org/drawingml/2006/main" noGrp="1"/>
          </p:cNvSpPr>
          <p:nvPr/>
        </p:nvSpPr>
        <p:spPr>
          <a:xfrm xmlns:a="http://schemas.openxmlformats.org/drawingml/2006/main">
            <a:off x="8629650" y="2066925"/>
            <a:ext cx="2952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COUNT menghitung</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judul, SUM</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menjumlahkan stok, dan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AVG menghitung</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rata-rata harga di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database.</a:t>
            </a:r>
          </a:p>
        </p:txBody>
      </p:sp>
      <p:sp>
        <p:nvSpPr>
          <p:cNvPr id="6" name="text-96">
            <a:extLst xmlns:a="http://schemas.openxmlformats.org/drawingml/2006/main">
              <a:ext uri="{FF2B5EF4-FFF2-40B4-BE49-F238E27FC236}">
                <a16:creationId xmlns:a16="http://schemas.microsoft.com/office/drawing/2014/main" id="{138A32E2-2889-49E9-8848-BEDDAC0A040C}"/>
              </a:ext>
            </a:extLst>
          </p:cNvPr>
          <p:cNvSpPr>
            <a:spLocks xmlns:a="http://schemas.openxmlformats.org/drawingml/2006/main" noGrp="1"/>
          </p:cNvSpPr>
          <p:nvPr/>
        </p:nvSpPr>
        <p:spPr>
          <a:xfrm xmlns:a="http://schemas.openxmlformats.org/drawingml/2006/main">
            <a:off x="8629650" y="39909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Respons dinamis</a:t>
            </a:r>
          </a:p>
        </p:txBody>
      </p:sp>
      <p:sp>
        <p:nvSpPr>
          <p:cNvPr id="7" name="text-97">
            <a:extLst xmlns:a="http://schemas.openxmlformats.org/drawingml/2006/main">
              <a:ext uri="{FF2B5EF4-FFF2-40B4-BE49-F238E27FC236}">
                <a16:creationId xmlns:a16="http://schemas.microsoft.com/office/drawing/2014/main" id="{35499E26-47AD-4270-9E85-1458750C805D}"/>
              </a:ext>
            </a:extLst>
          </p:cNvPr>
          <p:cNvSpPr>
            <a:spLocks xmlns:a="http://schemas.openxmlformats.org/drawingml/2006/main" noGrp="1"/>
          </p:cNvSpPr>
          <p:nvPr/>
        </p:nvSpPr>
        <p:spPr>
          <a:xfrm xmlns:a="http://schemas.openxmlformats.org/drawingml/2006/main">
            <a:off x="8629650" y="4410075"/>
            <a:ext cx="29527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Hasil agregasi dikirim</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sebagai JSON. Perubahan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data buku mengubah</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respons. Layanan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tersedia bagi kedua</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paket.</a:t>
            </a:r>
          </a:p>
        </p:txBody>
      </p:sp>
      <p:sp>
        <p:nvSpPr>
          <p:cNvPr id="8" name="text-98">
            <a:extLst xmlns:a="http://schemas.openxmlformats.org/drawingml/2006/main">
              <a:ext uri="{FF2B5EF4-FFF2-40B4-BE49-F238E27FC236}">
                <a16:creationId xmlns:a16="http://schemas.microsoft.com/office/drawing/2014/main" id="{D22AC73D-FD1A-4EEA-9233-54F16E81FDD1}"/>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Rafael   2/3</a:t>
            </a:r>
          </a:p>
        </p:txBody>
      </p:sp>
      <p:sp>
        <p:nvSpPr>
          <p:cNvPr id="9" name="text-99">
            <a:extLst xmlns:a="http://schemas.openxmlformats.org/drawingml/2006/main">
              <a:ext uri="{FF2B5EF4-FFF2-40B4-BE49-F238E27FC236}">
                <a16:creationId xmlns:a16="http://schemas.microsoft.com/office/drawing/2014/main" id="{34245F29-A0F6-4FE1-9562-A2B73C5B17C7}"/>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11/12</a:t>
            </a:r>
          </a:p>
        </p:txBody>
      </p:sp>
    </p:spTree>
    <p:extLst>
      <p:ext uri="{BB962C8B-B14F-4D97-AF65-F5344CB8AC3E}">
        <p14:creationId xmlns:p14="http://schemas.microsoft.com/office/powerpoint/2010/main" val="1883963774"/>
      </p:ext>
    </p:extLst>
  </p:cSld>
</p:sld>
</file>

<file path=ppt/slides/slide12.xml><?xml version="1.0" encoding="utf-8"?>
<p:sld xmlns:p="http://schemas.openxmlformats.org/presentationml/2006/main">
  <p:cSld>
    <p:bg>
      <p:bgPr>
        <a:solidFill xmlns:a="http://schemas.openxmlformats.org/drawingml/2006/main">
          <a:srgbClr val="102431"/>
        </a:solidFill>
      </p:bgPr>
    </p:bg>
    <p:spTree>
      <p:nvGrpSpPr>
        <p:cNvPr id="1" name=""/>
        <p:cNvGrpSpPr/>
        <p:nvPr/>
      </p:nvGrpSpPr>
      <p:grpSpPr>
        <a:xfrm xmlns:a="http://schemas.openxmlformats.org/drawingml/2006/main"/>
      </p:grpSpPr>
      <p:sp>
        <p:nvSpPr>
          <p:cNvPr id="10" name="text-100">
            <a:extLst xmlns:a="http://schemas.openxmlformats.org/drawingml/2006/main">
              <a:ext uri="{FF2B5EF4-FFF2-40B4-BE49-F238E27FC236}">
                <a16:creationId xmlns:a16="http://schemas.microsoft.com/office/drawing/2014/main" id="{BE141C2B-D86E-45B1-A985-B03528B59C33}"/>
              </a:ext>
            </a:extLst>
          </p:cNvPr>
          <p:cNvSpPr>
            <a:spLocks xmlns:a="http://schemas.openxmlformats.org/drawingml/2006/main" noGrp="1"/>
          </p:cNvSpPr>
          <p:nvPr/>
        </p:nvSpPr>
        <p:spPr>
          <a:xfrm xmlns:a="http://schemas.openxmlformats.org/drawingml/2006/main">
            <a:off x="609600" y="428625"/>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DejaVu Sans"/>
                <a:ea typeface="DejaVu Sans"/>
                <a:cs typeface="DejaVu Sans"/>
              </a:defRPr>
            </a:defPPr>
            <a:lvl1pPr algn="l">
              <a:defRPr sz="3225" b="1">
                <a:solidFill>
                  <a:srgbClr val="FFFFFF"/>
                </a:solidFill>
                <a:latin typeface="DejaVu Sans"/>
                <a:ea typeface="DejaVu Sans"/>
                <a:cs typeface="DejaVu Sans"/>
              </a:defRPr>
            </a:lvl1pPr>
            <a:lvl2pPr algn="l">
              <a:defRPr sz="3225" b="1">
                <a:solidFill>
                  <a:srgbClr val="FFFFFF"/>
                </a:solidFill>
                <a:latin typeface="DejaVu Sans"/>
                <a:ea typeface="DejaVu Sans"/>
                <a:cs typeface="DejaVu Sans"/>
              </a:defRPr>
            </a:lvl2pPr>
            <a:lvl3pPr algn="l">
              <a:defRPr sz="3225" b="1">
                <a:solidFill>
                  <a:srgbClr val="FFFFFF"/>
                </a:solidFill>
                <a:latin typeface="DejaVu Sans"/>
                <a:ea typeface="DejaVu Sans"/>
                <a:cs typeface="DejaVu Sans"/>
              </a:defRPr>
            </a:lvl3pPr>
            <a:lvl4pPr algn="l">
              <a:defRPr sz="3225" b="1">
                <a:solidFill>
                  <a:srgbClr val="FFFFFF"/>
                </a:solidFill>
                <a:latin typeface="DejaVu Sans"/>
                <a:ea typeface="DejaVu Sans"/>
                <a:cs typeface="DejaVu Sans"/>
              </a:defRPr>
            </a:lvl4pPr>
            <a:lvl5pPr algn="l">
              <a:defRPr sz="3225" b="1">
                <a:solidFill>
                  <a:srgbClr val="FFFFFF"/>
                </a:solidFill>
                <a:latin typeface="DejaVu Sans"/>
                <a:ea typeface="DejaVu Sans"/>
                <a:cs typeface="DejaVu Sans"/>
              </a:defRPr>
            </a:lvl5pPr>
            <a:lvl6pPr algn="l">
              <a:defRPr sz="3225" b="1">
                <a:solidFill>
                  <a:srgbClr val="FFFFFF"/>
                </a:solidFill>
                <a:latin typeface="DejaVu Sans"/>
                <a:ea typeface="DejaVu Sans"/>
                <a:cs typeface="DejaVu Sans"/>
              </a:defRPr>
            </a:lvl6pPr>
            <a:lvl7pPr algn="l">
              <a:defRPr sz="3225" b="1">
                <a:solidFill>
                  <a:srgbClr val="FFFFFF"/>
                </a:solidFill>
                <a:latin typeface="DejaVu Sans"/>
                <a:ea typeface="DejaVu Sans"/>
                <a:cs typeface="DejaVu Sans"/>
              </a:defRPr>
            </a:lvl7pPr>
            <a:lvl8pPr algn="l">
              <a:defRPr sz="3225" b="1">
                <a:solidFill>
                  <a:srgbClr val="FFFFFF"/>
                </a:solidFill>
                <a:latin typeface="DejaVu Sans"/>
                <a:ea typeface="DejaVu Sans"/>
                <a:cs typeface="DejaVu Sans"/>
              </a:defRPr>
            </a:lvl8pPr>
            <a:lvl9pPr algn="l">
              <a:defRPr sz="3225" b="1">
                <a:solidFill>
                  <a:srgbClr val="FFFFFF"/>
                </a:solidFill>
                <a:latin typeface="DejaVu Sans"/>
                <a:ea typeface="DejaVu Sans"/>
                <a:cs typeface="DejaVu Sans"/>
              </a:defRPr>
            </a:lvl9pPr>
          </a:lstStyle>
          <a:p xmlns:a="http://schemas.openxmlformats.org/drawingml/2006/main">
            <a:pPr algn="l">
              <a:lnSpc>
                <a:spcPct val="108000"/>
              </a:lnSpc>
              <a:buNone/>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Analitik khusus pelanggan Premium</a:t>
            </a:r>
          </a:p>
        </p:txBody>
      </p:sp>
      <p:sp>
        <p:nvSpPr>
          <p:cNvPr id="2" name="text-101">
            <a:extLst xmlns:a="http://schemas.openxmlformats.org/drawingml/2006/main">
              <a:ext uri="{FF2B5EF4-FFF2-40B4-BE49-F238E27FC236}">
                <a16:creationId xmlns:a16="http://schemas.microsoft.com/office/drawing/2014/main" id="{1A7E47A1-31F7-4DA1-BCB2-8CC4BE8DFF62}"/>
              </a:ext>
            </a:extLst>
          </p:cNvPr>
          <p:cNvSpPr>
            <a:spLocks xmlns:a="http://schemas.openxmlformats.org/drawingml/2006/main" noGrp="1"/>
          </p:cNvSpPr>
          <p:nvPr/>
        </p:nvSpPr>
        <p:spPr>
          <a:xfrm xmlns:a="http://schemas.openxmlformats.org/drawingml/2006/main">
            <a:off x="609600" y="1228725"/>
            <a:ext cx="7658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0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src/controllers/partner.js  14–19</a:t>
            </a:r>
          </a:p>
        </p:txBody>
      </p:sp>
      <p:sp>
        <p:nvSpPr>
          <p:cNvPr id="3" name="javascript-excerpt">
            <a:extLst xmlns:a="http://schemas.openxmlformats.org/drawingml/2006/main">
              <a:ext uri="{FF2B5EF4-FFF2-40B4-BE49-F238E27FC236}">
                <a16:creationId xmlns:a16="http://schemas.microsoft.com/office/drawing/2014/main" id="{79F127A3-ECEC-443F-9E3D-D6B5C3A0F90B}"/>
              </a:ext>
            </a:extLst>
          </p:cNvPr>
          <p:cNvSpPr>
            <a:spLocks xmlns:a="http://schemas.openxmlformats.org/drawingml/2006/main" noGrp="1"/>
          </p:cNvSpPr>
          <p:nvPr/>
        </p:nvSpPr>
        <p:spPr>
          <a:xfrm xmlns:a="http://schemas.openxmlformats.org/drawingml/2006/main">
            <a:off x="609600" y="1628775"/>
            <a:ext cx="7677150" cy="454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D9F2ED"/>
                </a:solidFill>
                <a:latin typeface="DejaVu Sans Mono"/>
                <a:ea typeface="DejaVu Sans Mono"/>
                <a:cs typeface="DejaVu Sans Mono"/>
              </a:defRPr>
            </a:defPPr>
            <a:lvl1pPr algn="l">
              <a:defRPr sz="1725" b="0">
                <a:solidFill>
                  <a:srgbClr val="D9F2ED"/>
                </a:solidFill>
                <a:latin typeface="DejaVu Sans Mono"/>
                <a:ea typeface="DejaVu Sans Mono"/>
                <a:cs typeface="DejaVu Sans Mono"/>
              </a:defRPr>
            </a:lvl1pPr>
            <a:lvl2pPr algn="l">
              <a:defRPr sz="1725" b="0">
                <a:solidFill>
                  <a:srgbClr val="D9F2ED"/>
                </a:solidFill>
                <a:latin typeface="DejaVu Sans Mono"/>
                <a:ea typeface="DejaVu Sans Mono"/>
                <a:cs typeface="DejaVu Sans Mono"/>
              </a:defRPr>
            </a:lvl2pPr>
            <a:lvl3pPr algn="l">
              <a:defRPr sz="1725" b="0">
                <a:solidFill>
                  <a:srgbClr val="D9F2ED"/>
                </a:solidFill>
                <a:latin typeface="DejaVu Sans Mono"/>
                <a:ea typeface="DejaVu Sans Mono"/>
                <a:cs typeface="DejaVu Sans Mono"/>
              </a:defRPr>
            </a:lvl3pPr>
            <a:lvl4pPr algn="l">
              <a:defRPr sz="1725" b="0">
                <a:solidFill>
                  <a:srgbClr val="D9F2ED"/>
                </a:solidFill>
                <a:latin typeface="DejaVu Sans Mono"/>
                <a:ea typeface="DejaVu Sans Mono"/>
                <a:cs typeface="DejaVu Sans Mono"/>
              </a:defRPr>
            </a:lvl4pPr>
            <a:lvl5pPr algn="l">
              <a:defRPr sz="1725" b="0">
                <a:solidFill>
                  <a:srgbClr val="D9F2ED"/>
                </a:solidFill>
                <a:latin typeface="DejaVu Sans Mono"/>
                <a:ea typeface="DejaVu Sans Mono"/>
                <a:cs typeface="DejaVu Sans Mono"/>
              </a:defRPr>
            </a:lvl5pPr>
            <a:lvl6pPr algn="l">
              <a:defRPr sz="1725" b="0">
                <a:solidFill>
                  <a:srgbClr val="D9F2ED"/>
                </a:solidFill>
                <a:latin typeface="DejaVu Sans Mono"/>
                <a:ea typeface="DejaVu Sans Mono"/>
                <a:cs typeface="DejaVu Sans Mono"/>
              </a:defRPr>
            </a:lvl6pPr>
            <a:lvl7pPr algn="l">
              <a:defRPr sz="1725" b="0">
                <a:solidFill>
                  <a:srgbClr val="D9F2ED"/>
                </a:solidFill>
                <a:latin typeface="DejaVu Sans Mono"/>
                <a:ea typeface="DejaVu Sans Mono"/>
                <a:cs typeface="DejaVu Sans Mono"/>
              </a:defRPr>
            </a:lvl7pPr>
            <a:lvl8pPr algn="l">
              <a:defRPr sz="1725" b="0">
                <a:solidFill>
                  <a:srgbClr val="D9F2ED"/>
                </a:solidFill>
                <a:latin typeface="DejaVu Sans Mono"/>
                <a:ea typeface="DejaVu Sans Mono"/>
                <a:cs typeface="DejaVu Sans Mono"/>
              </a:defRPr>
            </a:lvl8pPr>
            <a:lvl9pPr algn="l">
              <a:defRPr sz="1725" b="0">
                <a:solidFill>
                  <a:srgbClr val="D9F2ED"/>
                </a:solidFill>
                <a:latin typeface="DejaVu Sans Mono"/>
                <a:ea typeface="DejaVu Sans Mono"/>
                <a:cs typeface="DejaVu Sans Mono"/>
              </a:defRPr>
            </a:lvl9pPr>
          </a:lstStyle>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kategori = await Buku.findAll({</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attributes: ["kategori",</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[sequelize.fn("COUNT", sequelize.col("id")),</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"total_judul"],</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[sequelize.fn("SUM", sequelize.col("stok")),</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"total_stok"],</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group: ["kategori"],</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order: [["kategori", "ASC"]], raw: true</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const stokRendah = await Buku.findAll({</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where: { stok: { [Op.lte]: 5 } },</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attributes: ["id", "judul", "stok"],</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  order: [["stok", "ASC"], ["id", "ASC"]]</a:t>
            </a:r>
          </a:p>
          <a:p xmlns:a="http://schemas.openxmlformats.org/drawingml/2006/main">
            <a:pPr algn="l">
              <a:lnSpc>
                <a:spcPct val="102000"/>
              </a:lnSpc>
              <a:buNone/>
              <a:defRPr sz="1725" b="0">
                <a:solidFill>
                  <a:srgbClr val="D9F2ED"/>
                </a:solidFill>
                <a:latin typeface="DejaVu Sans Mono"/>
                <a:ea typeface="DejaVu Sans Mono"/>
                <a:cs typeface="DejaVu Sans Mono"/>
              </a:defRPr>
            </a:pPr>
            <a:r>
              <a:rPr sz="1725" b="0">
                <a:solidFill>
                  <a:srgbClr val="D9F2ED"/>
                </a:solidFill>
                <a:latin typeface="DejaVu Sans Mono"/>
                <a:ea typeface="DejaVu Sans Mono"/>
                <a:cs typeface="DejaVu Sans Mono"/>
              </a:rPr>
              <a:t>});</a:t>
            </a:r>
          </a:p>
        </p:txBody>
      </p:sp>
      <p:sp>
        <p:nvSpPr>
          <p:cNvPr id="4" name="text-103">
            <a:extLst xmlns:a="http://schemas.openxmlformats.org/drawingml/2006/main">
              <a:ext uri="{FF2B5EF4-FFF2-40B4-BE49-F238E27FC236}">
                <a16:creationId xmlns:a16="http://schemas.microsoft.com/office/drawing/2014/main" id="{A75F541A-D1E8-48D2-88FD-8EF1C3D1FFD3}"/>
              </a:ext>
            </a:extLst>
          </p:cNvPr>
          <p:cNvSpPr>
            <a:spLocks xmlns:a="http://schemas.openxmlformats.org/drawingml/2006/main" noGrp="1"/>
          </p:cNvSpPr>
          <p:nvPr/>
        </p:nvSpPr>
        <p:spPr>
          <a:xfrm xmlns:a="http://schemas.openxmlformats.org/drawingml/2006/main">
            <a:off x="8629650" y="164782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Analitik Premium</a:t>
            </a:r>
          </a:p>
        </p:txBody>
      </p:sp>
      <p:sp>
        <p:nvSpPr>
          <p:cNvPr id="5" name="text-104">
            <a:extLst xmlns:a="http://schemas.openxmlformats.org/drawingml/2006/main">
              <a:ext uri="{FF2B5EF4-FFF2-40B4-BE49-F238E27FC236}">
                <a16:creationId xmlns:a16="http://schemas.microsoft.com/office/drawing/2014/main" id="{783F11C5-0139-4057-B323-CECD3F8700B1}"/>
              </a:ext>
            </a:extLst>
          </p:cNvPr>
          <p:cNvSpPr>
            <a:spLocks xmlns:a="http://schemas.openxmlformats.org/drawingml/2006/main" noGrp="1"/>
          </p:cNvSpPr>
          <p:nvPr/>
        </p:nvSpPr>
        <p:spPr>
          <a:xfrm xmlns:a="http://schemas.openxmlformats.org/drawingml/2006/main">
            <a:off x="8629650" y="2066925"/>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group mengagregasi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judul dan stok per</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kategori. Op.lte memilih</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buku dengan stok paling</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banyak 5.</a:t>
            </a:r>
          </a:p>
        </p:txBody>
      </p:sp>
      <p:sp>
        <p:nvSpPr>
          <p:cNvPr id="6" name="text-105">
            <a:extLst xmlns:a="http://schemas.openxmlformats.org/drawingml/2006/main">
              <a:ext uri="{FF2B5EF4-FFF2-40B4-BE49-F238E27FC236}">
                <a16:creationId xmlns:a16="http://schemas.microsoft.com/office/drawing/2014/main" id="{51E2C150-82BC-4409-A70F-3D911CD446F5}"/>
              </a:ext>
            </a:extLst>
          </p:cNvPr>
          <p:cNvSpPr>
            <a:spLocks xmlns:a="http://schemas.openxmlformats.org/drawingml/2006/main" noGrp="1"/>
          </p:cNvSpPr>
          <p:nvPr/>
        </p:nvSpPr>
        <p:spPr>
          <a:xfrm xmlns:a="http://schemas.openxmlformats.org/drawingml/2006/main">
            <a:off x="8629650" y="3714750"/>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70E0C6"/>
                </a:solidFill>
                <a:latin typeface="DejaVu Sans"/>
                <a:ea typeface="DejaVu Sans"/>
                <a:cs typeface="DejaVu Sans"/>
              </a:defRPr>
            </a:defPPr>
            <a:lvl1pPr algn="l">
              <a:defRPr sz="2025" b="1">
                <a:solidFill>
                  <a:srgbClr val="70E0C6"/>
                </a:solidFill>
                <a:latin typeface="DejaVu Sans"/>
                <a:ea typeface="DejaVu Sans"/>
                <a:cs typeface="DejaVu Sans"/>
              </a:defRPr>
            </a:lvl1pPr>
            <a:lvl2pPr algn="l">
              <a:defRPr sz="2025" b="1">
                <a:solidFill>
                  <a:srgbClr val="70E0C6"/>
                </a:solidFill>
                <a:latin typeface="DejaVu Sans"/>
                <a:ea typeface="DejaVu Sans"/>
                <a:cs typeface="DejaVu Sans"/>
              </a:defRPr>
            </a:lvl2pPr>
            <a:lvl3pPr algn="l">
              <a:defRPr sz="2025" b="1">
                <a:solidFill>
                  <a:srgbClr val="70E0C6"/>
                </a:solidFill>
                <a:latin typeface="DejaVu Sans"/>
                <a:ea typeface="DejaVu Sans"/>
                <a:cs typeface="DejaVu Sans"/>
              </a:defRPr>
            </a:lvl3pPr>
            <a:lvl4pPr algn="l">
              <a:defRPr sz="2025" b="1">
                <a:solidFill>
                  <a:srgbClr val="70E0C6"/>
                </a:solidFill>
                <a:latin typeface="DejaVu Sans"/>
                <a:ea typeface="DejaVu Sans"/>
                <a:cs typeface="DejaVu Sans"/>
              </a:defRPr>
            </a:lvl4pPr>
            <a:lvl5pPr algn="l">
              <a:defRPr sz="2025" b="1">
                <a:solidFill>
                  <a:srgbClr val="70E0C6"/>
                </a:solidFill>
                <a:latin typeface="DejaVu Sans"/>
                <a:ea typeface="DejaVu Sans"/>
                <a:cs typeface="DejaVu Sans"/>
              </a:defRPr>
            </a:lvl5pPr>
            <a:lvl6pPr algn="l">
              <a:defRPr sz="2025" b="1">
                <a:solidFill>
                  <a:srgbClr val="70E0C6"/>
                </a:solidFill>
                <a:latin typeface="DejaVu Sans"/>
                <a:ea typeface="DejaVu Sans"/>
                <a:cs typeface="DejaVu Sans"/>
              </a:defRPr>
            </a:lvl6pPr>
            <a:lvl7pPr algn="l">
              <a:defRPr sz="2025" b="1">
                <a:solidFill>
                  <a:srgbClr val="70E0C6"/>
                </a:solidFill>
                <a:latin typeface="DejaVu Sans"/>
                <a:ea typeface="DejaVu Sans"/>
                <a:cs typeface="DejaVu Sans"/>
              </a:defRPr>
            </a:lvl7pPr>
            <a:lvl8pPr algn="l">
              <a:defRPr sz="2025" b="1">
                <a:solidFill>
                  <a:srgbClr val="70E0C6"/>
                </a:solidFill>
                <a:latin typeface="DejaVu Sans"/>
                <a:ea typeface="DejaVu Sans"/>
                <a:cs typeface="DejaVu Sans"/>
              </a:defRPr>
            </a:lvl8pPr>
            <a:lvl9pPr algn="l">
              <a:defRPr sz="2025" b="1">
                <a:solidFill>
                  <a:srgbClr val="70E0C6"/>
                </a:solidFill>
                <a:latin typeface="DejaVu Sans"/>
                <a:ea typeface="DejaVu Sans"/>
                <a:cs typeface="DejaVu Sans"/>
              </a:defRPr>
            </a:lvl9pPr>
          </a:lstStyle>
          <a:p xmlns:a="http://schemas.openxmlformats.org/drawingml/2006/main">
            <a:pPr algn="l">
              <a:lnSpc>
                <a:spcPct val="108000"/>
              </a:lnSpc>
              <a:buNone/>
              <a:defRPr sz="2025" b="1">
                <a:solidFill>
                  <a:srgbClr val="70E0C6"/>
                </a:solidFill>
                <a:latin typeface="DejaVu Sans"/>
                <a:ea typeface="DejaVu Sans"/>
                <a:cs typeface="DejaVu Sans"/>
              </a:defRPr>
            </a:pPr>
            <a:r>
              <a:rPr sz="2025" b="1">
                <a:solidFill>
                  <a:srgbClr val="70E0C6"/>
                </a:solidFill>
                <a:latin typeface="DejaVu Sans"/>
                <a:ea typeface="DejaVu Sans"/>
                <a:cs typeface="DejaVu Sans"/>
              </a:rPr>
              <a:t>Respons analitik</a:t>
            </a:r>
          </a:p>
        </p:txBody>
      </p:sp>
      <p:sp>
        <p:nvSpPr>
          <p:cNvPr id="7" name="text-106">
            <a:extLst xmlns:a="http://schemas.openxmlformats.org/drawingml/2006/main">
              <a:ext uri="{FF2B5EF4-FFF2-40B4-BE49-F238E27FC236}">
                <a16:creationId xmlns:a16="http://schemas.microsoft.com/office/drawing/2014/main" id="{3419DC0C-13CF-4C76-921B-CCCCEF4A9CA5}"/>
              </a:ext>
            </a:extLst>
          </p:cNvPr>
          <p:cNvSpPr>
            <a:spLocks xmlns:a="http://schemas.openxmlformats.org/drawingml/2006/main" noGrp="1"/>
          </p:cNvSpPr>
          <p:nvPr/>
        </p:nvSpPr>
        <p:spPr>
          <a:xfrm xmlns:a="http://schemas.openxmlformats.org/drawingml/2006/main">
            <a:off x="8629650" y="4133850"/>
            <a:ext cx="2952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D6E3E9"/>
                </a:solidFill>
                <a:latin typeface="DejaVu Sans"/>
                <a:ea typeface="DejaVu Sans"/>
                <a:cs typeface="DejaVu Sans"/>
              </a:defRPr>
            </a:defPPr>
            <a:lvl1pPr algn="l">
              <a:defRPr sz="1800" b="0">
                <a:solidFill>
                  <a:srgbClr val="D6E3E9"/>
                </a:solidFill>
                <a:latin typeface="DejaVu Sans"/>
                <a:ea typeface="DejaVu Sans"/>
                <a:cs typeface="DejaVu Sans"/>
              </a:defRPr>
            </a:lvl1pPr>
            <a:lvl2pPr algn="l">
              <a:defRPr sz="1800" b="0">
                <a:solidFill>
                  <a:srgbClr val="D6E3E9"/>
                </a:solidFill>
                <a:latin typeface="DejaVu Sans"/>
                <a:ea typeface="DejaVu Sans"/>
                <a:cs typeface="DejaVu Sans"/>
              </a:defRPr>
            </a:lvl2pPr>
            <a:lvl3pPr algn="l">
              <a:defRPr sz="1800" b="0">
                <a:solidFill>
                  <a:srgbClr val="D6E3E9"/>
                </a:solidFill>
                <a:latin typeface="DejaVu Sans"/>
                <a:ea typeface="DejaVu Sans"/>
                <a:cs typeface="DejaVu Sans"/>
              </a:defRPr>
            </a:lvl3pPr>
            <a:lvl4pPr algn="l">
              <a:defRPr sz="1800" b="0">
                <a:solidFill>
                  <a:srgbClr val="D6E3E9"/>
                </a:solidFill>
                <a:latin typeface="DejaVu Sans"/>
                <a:ea typeface="DejaVu Sans"/>
                <a:cs typeface="DejaVu Sans"/>
              </a:defRPr>
            </a:lvl4pPr>
            <a:lvl5pPr algn="l">
              <a:defRPr sz="1800" b="0">
                <a:solidFill>
                  <a:srgbClr val="D6E3E9"/>
                </a:solidFill>
                <a:latin typeface="DejaVu Sans"/>
                <a:ea typeface="DejaVu Sans"/>
                <a:cs typeface="DejaVu Sans"/>
              </a:defRPr>
            </a:lvl5pPr>
            <a:lvl6pPr algn="l">
              <a:defRPr sz="1800" b="0">
                <a:solidFill>
                  <a:srgbClr val="D6E3E9"/>
                </a:solidFill>
                <a:latin typeface="DejaVu Sans"/>
                <a:ea typeface="DejaVu Sans"/>
                <a:cs typeface="DejaVu Sans"/>
              </a:defRPr>
            </a:lvl6pPr>
            <a:lvl7pPr algn="l">
              <a:defRPr sz="1800" b="0">
                <a:solidFill>
                  <a:srgbClr val="D6E3E9"/>
                </a:solidFill>
                <a:latin typeface="DejaVu Sans"/>
                <a:ea typeface="DejaVu Sans"/>
                <a:cs typeface="DejaVu Sans"/>
              </a:defRPr>
            </a:lvl7pPr>
            <a:lvl8pPr algn="l">
              <a:defRPr sz="1800" b="0">
                <a:solidFill>
                  <a:srgbClr val="D6E3E9"/>
                </a:solidFill>
                <a:latin typeface="DejaVu Sans"/>
                <a:ea typeface="DejaVu Sans"/>
                <a:cs typeface="DejaVu Sans"/>
              </a:defRPr>
            </a:lvl8pPr>
            <a:lvl9pPr algn="l">
              <a:defRPr sz="1800" b="0">
                <a:solidFill>
                  <a:srgbClr val="D6E3E9"/>
                </a:solidFill>
                <a:latin typeface="DejaVu Sans"/>
                <a:ea typeface="DejaVu Sans"/>
                <a:cs typeface="DejaVu Sans"/>
              </a:defRPr>
            </a:lvl9pPr>
          </a:lstStyle>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Respons berisi kategori</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dan daftar stok rendah.</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Middleware memastikan</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hanya Premium yang</a:t>
            </a:r>
          </a:p>
          <a:p xmlns:a="http://schemas.openxmlformats.org/drawingml/2006/main">
            <a:pPr algn="l">
              <a:lnSpc>
                <a:spcPct val="103000"/>
              </a:lnSpc>
              <a:buNone/>
              <a:defRPr sz="1800" b="0">
                <a:solidFill>
                  <a:srgbClr val="D6E3E9"/>
                </a:solidFill>
                <a:latin typeface="DejaVu Sans"/>
                <a:ea typeface="DejaVu Sans"/>
                <a:cs typeface="DejaVu Sans"/>
              </a:defRPr>
            </a:pPr>
            <a:r>
              <a:rPr sz="1800" b="0">
                <a:solidFill>
                  <a:srgbClr val="D6E3E9"/>
                </a:solidFill>
                <a:latin typeface="DejaVu Sans"/>
                <a:ea typeface="DejaVu Sans"/>
                <a:cs typeface="DejaVu Sans"/>
              </a:rPr>
              <a:t>mengakses analitik.</a:t>
            </a:r>
          </a:p>
        </p:txBody>
      </p:sp>
      <p:sp>
        <p:nvSpPr>
          <p:cNvPr id="8" name="text-107">
            <a:extLst xmlns:a="http://schemas.openxmlformats.org/drawingml/2006/main">
              <a:ext uri="{FF2B5EF4-FFF2-40B4-BE49-F238E27FC236}">
                <a16:creationId xmlns:a16="http://schemas.microsoft.com/office/drawing/2014/main" id="{0CEFDDDD-031B-4EB4-9298-2754EA2194AC}"/>
              </a:ext>
            </a:extLst>
          </p:cNvPr>
          <p:cNvSpPr>
            <a:spLocks xmlns:a="http://schemas.openxmlformats.org/drawingml/2006/main" noGrp="1"/>
          </p:cNvSpPr>
          <p:nvPr/>
        </p:nvSpPr>
        <p:spPr>
          <a:xfrm xmlns:a="http://schemas.openxmlformats.org/drawingml/2006/main">
            <a:off x="6096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A5BAC6"/>
                </a:solidFill>
                <a:latin typeface="DejaVu Sans"/>
                <a:ea typeface="DejaVu Sans"/>
                <a:cs typeface="DejaVu Sans"/>
              </a:defRPr>
            </a:defPPr>
            <a:lvl1pPr algn="l">
              <a:defRPr sz="1200" b="0">
                <a:solidFill>
                  <a:srgbClr val="A5BAC6"/>
                </a:solidFill>
                <a:latin typeface="DejaVu Sans"/>
                <a:ea typeface="DejaVu Sans"/>
                <a:cs typeface="DejaVu Sans"/>
              </a:defRPr>
            </a:lvl1pPr>
            <a:lvl2pPr algn="l">
              <a:defRPr sz="1200" b="0">
                <a:solidFill>
                  <a:srgbClr val="A5BAC6"/>
                </a:solidFill>
                <a:latin typeface="DejaVu Sans"/>
                <a:ea typeface="DejaVu Sans"/>
                <a:cs typeface="DejaVu Sans"/>
              </a:defRPr>
            </a:lvl2pPr>
            <a:lvl3pPr algn="l">
              <a:defRPr sz="1200" b="0">
                <a:solidFill>
                  <a:srgbClr val="A5BAC6"/>
                </a:solidFill>
                <a:latin typeface="DejaVu Sans"/>
                <a:ea typeface="DejaVu Sans"/>
                <a:cs typeface="DejaVu Sans"/>
              </a:defRPr>
            </a:lvl3pPr>
            <a:lvl4pPr algn="l">
              <a:defRPr sz="1200" b="0">
                <a:solidFill>
                  <a:srgbClr val="A5BAC6"/>
                </a:solidFill>
                <a:latin typeface="DejaVu Sans"/>
                <a:ea typeface="DejaVu Sans"/>
                <a:cs typeface="DejaVu Sans"/>
              </a:defRPr>
            </a:lvl4pPr>
            <a:lvl5pPr algn="l">
              <a:defRPr sz="1200" b="0">
                <a:solidFill>
                  <a:srgbClr val="A5BAC6"/>
                </a:solidFill>
                <a:latin typeface="DejaVu Sans"/>
                <a:ea typeface="DejaVu Sans"/>
                <a:cs typeface="DejaVu Sans"/>
              </a:defRPr>
            </a:lvl5pPr>
            <a:lvl6pPr algn="l">
              <a:defRPr sz="1200" b="0">
                <a:solidFill>
                  <a:srgbClr val="A5BAC6"/>
                </a:solidFill>
                <a:latin typeface="DejaVu Sans"/>
                <a:ea typeface="DejaVu Sans"/>
                <a:cs typeface="DejaVu Sans"/>
              </a:defRPr>
            </a:lvl6pPr>
            <a:lvl7pPr algn="l">
              <a:defRPr sz="1200" b="0">
                <a:solidFill>
                  <a:srgbClr val="A5BAC6"/>
                </a:solidFill>
                <a:latin typeface="DejaVu Sans"/>
                <a:ea typeface="DejaVu Sans"/>
                <a:cs typeface="DejaVu Sans"/>
              </a:defRPr>
            </a:lvl7pPr>
            <a:lvl8pPr algn="l">
              <a:defRPr sz="1200" b="0">
                <a:solidFill>
                  <a:srgbClr val="A5BAC6"/>
                </a:solidFill>
                <a:latin typeface="DejaVu Sans"/>
                <a:ea typeface="DejaVu Sans"/>
                <a:cs typeface="DejaVu Sans"/>
              </a:defRPr>
            </a:lvl8pPr>
            <a:lvl9pPr algn="l">
              <a:defRPr sz="1200" b="0">
                <a:solidFill>
                  <a:srgbClr val="A5BAC6"/>
                </a:solidFill>
                <a:latin typeface="DejaVu Sans"/>
                <a:ea typeface="DejaVu Sans"/>
                <a:cs typeface="DejaVu Sans"/>
              </a:defRPr>
            </a:lvl9pPr>
          </a:lstStyle>
          <a:p xmlns:a="http://schemas.openxmlformats.org/drawingml/2006/main">
            <a:pPr algn="l">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Rafael   3/3</a:t>
            </a:r>
          </a:p>
        </p:txBody>
      </p:sp>
      <p:sp>
        <p:nvSpPr>
          <p:cNvPr id="9" name="text-108">
            <a:extLst xmlns:a="http://schemas.openxmlformats.org/drawingml/2006/main">
              <a:ext uri="{FF2B5EF4-FFF2-40B4-BE49-F238E27FC236}">
                <a16:creationId xmlns:a16="http://schemas.microsoft.com/office/drawing/2014/main" id="{CEFA246F-EB3F-4936-AF50-89E470D06A8F}"/>
              </a:ext>
            </a:extLst>
          </p:cNvPr>
          <p:cNvSpPr>
            <a:spLocks xmlns:a="http://schemas.openxmlformats.org/drawingml/2006/main" noGrp="1"/>
          </p:cNvSpPr>
          <p:nvPr/>
        </p:nvSpPr>
        <p:spPr>
          <a:xfrm xmlns:a="http://schemas.openxmlformats.org/drawingml/2006/main">
            <a:off x="10858500" y="6362700"/>
            <a:ext cx="723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5BAC6"/>
                </a:solidFill>
                <a:latin typeface="DejaVu Sans"/>
                <a:ea typeface="DejaVu Sans"/>
                <a:cs typeface="DejaVu Sans"/>
              </a:defRPr>
            </a:defPPr>
            <a:lvl1pPr algn="r">
              <a:defRPr sz="1200" b="0">
                <a:solidFill>
                  <a:srgbClr val="A5BAC6"/>
                </a:solidFill>
                <a:latin typeface="DejaVu Sans"/>
                <a:ea typeface="DejaVu Sans"/>
                <a:cs typeface="DejaVu Sans"/>
              </a:defRPr>
            </a:lvl1pPr>
            <a:lvl2pPr algn="r">
              <a:defRPr sz="1200" b="0">
                <a:solidFill>
                  <a:srgbClr val="A5BAC6"/>
                </a:solidFill>
                <a:latin typeface="DejaVu Sans"/>
                <a:ea typeface="DejaVu Sans"/>
                <a:cs typeface="DejaVu Sans"/>
              </a:defRPr>
            </a:lvl2pPr>
            <a:lvl3pPr algn="r">
              <a:defRPr sz="1200" b="0">
                <a:solidFill>
                  <a:srgbClr val="A5BAC6"/>
                </a:solidFill>
                <a:latin typeface="DejaVu Sans"/>
                <a:ea typeface="DejaVu Sans"/>
                <a:cs typeface="DejaVu Sans"/>
              </a:defRPr>
            </a:lvl3pPr>
            <a:lvl4pPr algn="r">
              <a:defRPr sz="1200" b="0">
                <a:solidFill>
                  <a:srgbClr val="A5BAC6"/>
                </a:solidFill>
                <a:latin typeface="DejaVu Sans"/>
                <a:ea typeface="DejaVu Sans"/>
                <a:cs typeface="DejaVu Sans"/>
              </a:defRPr>
            </a:lvl4pPr>
            <a:lvl5pPr algn="r">
              <a:defRPr sz="1200" b="0">
                <a:solidFill>
                  <a:srgbClr val="A5BAC6"/>
                </a:solidFill>
                <a:latin typeface="DejaVu Sans"/>
                <a:ea typeface="DejaVu Sans"/>
                <a:cs typeface="DejaVu Sans"/>
              </a:defRPr>
            </a:lvl5pPr>
            <a:lvl6pPr algn="r">
              <a:defRPr sz="1200" b="0">
                <a:solidFill>
                  <a:srgbClr val="A5BAC6"/>
                </a:solidFill>
                <a:latin typeface="DejaVu Sans"/>
                <a:ea typeface="DejaVu Sans"/>
                <a:cs typeface="DejaVu Sans"/>
              </a:defRPr>
            </a:lvl6pPr>
            <a:lvl7pPr algn="r">
              <a:defRPr sz="1200" b="0">
                <a:solidFill>
                  <a:srgbClr val="A5BAC6"/>
                </a:solidFill>
                <a:latin typeface="DejaVu Sans"/>
                <a:ea typeface="DejaVu Sans"/>
                <a:cs typeface="DejaVu Sans"/>
              </a:defRPr>
            </a:lvl7pPr>
            <a:lvl8pPr algn="r">
              <a:defRPr sz="1200" b="0">
                <a:solidFill>
                  <a:srgbClr val="A5BAC6"/>
                </a:solidFill>
                <a:latin typeface="DejaVu Sans"/>
                <a:ea typeface="DejaVu Sans"/>
                <a:cs typeface="DejaVu Sans"/>
              </a:defRPr>
            </a:lvl8pPr>
            <a:lvl9pPr algn="r">
              <a:defRPr sz="1200" b="0">
                <a:solidFill>
                  <a:srgbClr val="A5BAC6"/>
                </a:solidFill>
                <a:latin typeface="DejaVu Sans"/>
                <a:ea typeface="DejaVu Sans"/>
                <a:cs typeface="DejaVu Sans"/>
              </a:defRPr>
            </a:lvl9pPr>
          </a:lstStyle>
          <a:p xmlns:a="http://schemas.openxmlformats.org/drawingml/2006/main">
            <a:pPr algn="r">
              <a:lnSpc>
                <a:spcPct val="108000"/>
              </a:lnSpc>
              <a:buNone/>
              <a:defRPr sz="1200" b="0">
                <a:solidFill>
                  <a:srgbClr val="A5BAC6"/>
                </a:solidFill>
                <a:latin typeface="DejaVu Sans"/>
                <a:ea typeface="DejaVu Sans"/>
                <a:cs typeface="DejaVu Sans"/>
              </a:defRPr>
            </a:pPr>
            <a:r>
              <a:rPr sz="1200" b="0">
                <a:solidFill>
                  <a:srgbClr val="A5BAC6"/>
                </a:solidFill>
                <a:latin typeface="DejaVu Sans"/>
                <a:ea typeface="DejaVu Sans"/>
                <a:cs typeface="DejaVu Sans"/>
              </a:rPr>
              <a:t>12/12</a:t>
            </a:r>
          </a:p>
        </p:txBody>
      </p:sp>
    </p:spTree>
    <p:extLst>
      <p:ext uri="{BB962C8B-B14F-4D97-AF65-F5344CB8AC3E}">
        <p14:creationId xmlns:p14="http://schemas.microsoft.com/office/powerpoint/2010/main" val="12191744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2026-10-26T14:51:30.3410000Z</dcterms:created>
  <dcterms:modified xsi:type="dcterms:W3CDTF">2026-10-26T14:51:30.3410000Z</dcterms:modified>
</coreProperties>
</file>